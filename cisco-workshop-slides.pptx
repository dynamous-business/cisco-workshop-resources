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2192000" cy="6858000"/>
  <p:notesSz cx="7772400" cy="100584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0"/>
            <a:ext cx="12189960" cy="135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457200" y="1920240"/>
            <a:ext cx="11275560" cy="179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5600" spc="-1" strike="noStrike">
                <a:solidFill>
                  <a:srgbClr val="fafafa"/>
                </a:solidFill>
                <a:latin typeface="Inter"/>
                <a:ea typeface="DejaVu Sans"/>
              </a:rPr>
              <a:t>Agentic Engineering Workshop</a:t>
            </a:r>
            <a:endParaRPr b="0" lang="en-US" sz="5600" spc="-1" strike="noStrike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2536560" y="3658680"/>
            <a:ext cx="71168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Inter"/>
                <a:ea typeface="DejaVu Sans"/>
              </a:rPr>
              <a:t>AI-Assisted Development for Enterprise Teams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4686480" y="4663440"/>
            <a:ext cx="281628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Cole Medin | Dynamous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2"/>
          <p:cNvSpPr/>
          <p:nvPr/>
        </p:nvSpPr>
        <p:spPr>
          <a:xfrm>
            <a:off x="3031200" y="457200"/>
            <a:ext cx="60058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What We'll Cover Today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The New SDLC - Your codebase now has an AI layer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5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PRD + PIV Methodology - Structured approach to AI-assisted development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7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Rules, Commands &amp; Skills - Building your AI layer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CustomShape 11"/>
          <p:cNvSpPr/>
          <p:nvPr/>
        </p:nvSpPr>
        <p:spPr>
          <a:xfrm>
            <a:off x="914400" y="512064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AI-Native Architecture - Optimizing codebases for agents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2177640" y="365760"/>
            <a:ext cx="78346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The Promise of This Workshop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3"/>
          <p:cNvSpPr/>
          <p:nvPr/>
        </p:nvSpPr>
        <p:spPr>
          <a:xfrm>
            <a:off x="4572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4"/>
          <p:cNvSpPr/>
          <p:nvPr/>
        </p:nvSpPr>
        <p:spPr>
          <a:xfrm>
            <a:off x="1230480" y="1920240"/>
            <a:ext cx="37548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b82f6"/>
                </a:solidFill>
                <a:latin typeface="Inter"/>
                <a:ea typeface="DejaVu Sans"/>
              </a:rPr>
              <a:t>What You're Experiencing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Vibe coding with AI feels fast initially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CustomShape 6"/>
          <p:cNvSpPr/>
          <p:nvPr/>
        </p:nvSpPr>
        <p:spPr>
          <a:xfrm>
            <a:off x="7315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Code quality issues compound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7" name="CustomShape 7"/>
          <p:cNvSpPr/>
          <p:nvPr/>
        </p:nvSpPr>
        <p:spPr>
          <a:xfrm>
            <a:off x="7315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Time lost to cleanup and refactoring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8" name="CustomShape 8"/>
          <p:cNvSpPr/>
          <p:nvPr/>
        </p:nvSpPr>
        <p:spPr>
          <a:xfrm>
            <a:off x="7315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Inconsistent results across sessions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9" name="CustomShape 9"/>
          <p:cNvSpPr/>
          <p:nvPr/>
        </p:nvSpPr>
        <p:spPr>
          <a:xfrm>
            <a:off x="64008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ustomShape 10"/>
          <p:cNvSpPr/>
          <p:nvPr/>
        </p:nvSpPr>
        <p:spPr>
          <a:xfrm>
            <a:off x="7867440" y="1920240"/>
            <a:ext cx="23680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Inter"/>
                <a:ea typeface="DejaVu Sans"/>
              </a:rPr>
              <a:t>What's Possible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CustomShape 11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Structured approach for consistent quality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2" name="CustomShape 12"/>
          <p:cNvSpPr/>
          <p:nvPr/>
        </p:nvSpPr>
        <p:spPr>
          <a:xfrm>
            <a:off x="66751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AI layer effectiveness compounds over time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CustomShape 13"/>
          <p:cNvSpPr/>
          <p:nvPr/>
        </p:nvSpPr>
        <p:spPr>
          <a:xfrm>
            <a:off x="66751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Less time fixing, more time building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CustomShape 14"/>
          <p:cNvSpPr/>
          <p:nvPr/>
        </p:nvSpPr>
        <p:spPr>
          <a:xfrm>
            <a:off x="66751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Reliable results every session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3491280" y="365760"/>
            <a:ext cx="520740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Hands-On Exercises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7" name="CustomShape 3"/>
          <p:cNvSpPr/>
          <p:nvPr/>
        </p:nvSpPr>
        <p:spPr>
          <a:xfrm>
            <a:off x="45720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8" name="CustomShape 4"/>
          <p:cNvSpPr/>
          <p:nvPr/>
        </p:nvSpPr>
        <p:spPr>
          <a:xfrm>
            <a:off x="457200" y="1645920"/>
            <a:ext cx="261180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09" name="CustomShape 5"/>
          <p:cNvSpPr/>
          <p:nvPr/>
        </p:nvSpPr>
        <p:spPr>
          <a:xfrm>
            <a:off x="71244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CustomShape 6"/>
          <p:cNvSpPr/>
          <p:nvPr/>
        </p:nvSpPr>
        <p:spPr>
          <a:xfrm>
            <a:off x="64008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Baseline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CustomShape 7"/>
          <p:cNvSpPr/>
          <p:nvPr/>
        </p:nvSpPr>
        <p:spPr>
          <a:xfrm>
            <a:off x="640080" y="3474720"/>
            <a:ext cx="2246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Apply your current AI workflow to a brownfield development task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2" name="CustomShape 8"/>
          <p:cNvSpPr/>
          <p:nvPr/>
        </p:nvSpPr>
        <p:spPr>
          <a:xfrm>
            <a:off x="334512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3" name="CustomShape 9"/>
          <p:cNvSpPr/>
          <p:nvPr/>
        </p:nvSpPr>
        <p:spPr>
          <a:xfrm>
            <a:off x="3345120" y="1645920"/>
            <a:ext cx="2611800" cy="89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4" name="CustomShape 10"/>
          <p:cNvSpPr/>
          <p:nvPr/>
        </p:nvSpPr>
        <p:spPr>
          <a:xfrm>
            <a:off x="360036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5" name="CustomShape 11"/>
          <p:cNvSpPr/>
          <p:nvPr/>
        </p:nvSpPr>
        <p:spPr>
          <a:xfrm>
            <a:off x="352800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PIV Loop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6" name="CustomShape 12"/>
          <p:cNvSpPr/>
          <p:nvPr/>
        </p:nvSpPr>
        <p:spPr>
          <a:xfrm>
            <a:off x="3528000" y="3474720"/>
            <a:ext cx="2246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Apply the planning → implementing → validating process to the same task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CustomShape 13"/>
          <p:cNvSpPr/>
          <p:nvPr/>
        </p:nvSpPr>
        <p:spPr>
          <a:xfrm>
            <a:off x="623304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8" name="CustomShape 14"/>
          <p:cNvSpPr/>
          <p:nvPr/>
        </p:nvSpPr>
        <p:spPr>
          <a:xfrm>
            <a:off x="6233040" y="1645920"/>
            <a:ext cx="2611800" cy="89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19" name="CustomShape 15"/>
          <p:cNvSpPr/>
          <p:nvPr/>
        </p:nvSpPr>
        <p:spPr>
          <a:xfrm>
            <a:off x="648828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0" name="CustomShape 16"/>
          <p:cNvSpPr/>
          <p:nvPr/>
        </p:nvSpPr>
        <p:spPr>
          <a:xfrm>
            <a:off x="6415920" y="2560320"/>
            <a:ext cx="22460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Build a Skill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1" name="CustomShape 17"/>
          <p:cNvSpPr/>
          <p:nvPr/>
        </p:nvSpPr>
        <p:spPr>
          <a:xfrm>
            <a:off x="6415920" y="3474720"/>
            <a:ext cx="2246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Create your own workflow skill to automate something you do daily/weekly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2" name="CustomShape 18"/>
          <p:cNvSpPr/>
          <p:nvPr/>
        </p:nvSpPr>
        <p:spPr>
          <a:xfrm>
            <a:off x="912096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3" name="CustomShape 19"/>
          <p:cNvSpPr/>
          <p:nvPr/>
        </p:nvSpPr>
        <p:spPr>
          <a:xfrm>
            <a:off x="9120960" y="1645920"/>
            <a:ext cx="261180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124" name="CustomShape 20"/>
          <p:cNvSpPr/>
          <p:nvPr/>
        </p:nvSpPr>
        <p:spPr>
          <a:xfrm>
            <a:off x="937620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ade80"/>
                </a:solidFill>
                <a:latin typeface="Inter"/>
                <a:ea typeface="DejaVu Sans"/>
              </a:rPr>
              <a:t>04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5" name="CustomShape 21"/>
          <p:cNvSpPr/>
          <p:nvPr/>
        </p:nvSpPr>
        <p:spPr>
          <a:xfrm>
            <a:off x="930384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AI-Optimized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CustomShape 22"/>
          <p:cNvSpPr/>
          <p:nvPr/>
        </p:nvSpPr>
        <p:spPr>
          <a:xfrm>
            <a:off x="9303840" y="3474720"/>
            <a:ext cx="224604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Build anything on top of an AI-optimized codebase (Python/FastAPI)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CustomShape 2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12000" spc="-1" strike="noStrike">
              <a:latin typeface="Arial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CustomShape 4"/>
          <p:cNvSpPr/>
          <p:nvPr/>
        </p:nvSpPr>
        <p:spPr>
          <a:xfrm>
            <a:off x="4754880" y="2377440"/>
            <a:ext cx="68562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The New SDLC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CustomShape 5"/>
          <p:cNvSpPr/>
          <p:nvPr/>
        </p:nvSpPr>
        <p:spPr>
          <a:xfrm>
            <a:off x="4754880" y="384048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Your codebase now has an AI layer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4240440" y="457200"/>
            <a:ext cx="370908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The AI Layer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7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Global Rules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CustomShape 7"/>
          <p:cNvSpPr/>
          <p:nvPr/>
        </p:nvSpPr>
        <p:spPr>
          <a:xfrm>
            <a:off x="1005840" y="420624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Constraints and conventions that apply to every task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9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3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On-Demand Context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CustomShape 13"/>
          <p:cNvSpPr/>
          <p:nvPr/>
        </p:nvSpPr>
        <p:spPr>
          <a:xfrm>
            <a:off x="4389120" y="457200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Task-specific resources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loaded when needed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5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49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Skills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0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Packaged workflows/guidance with progressive disclosure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2989800" y="365760"/>
            <a:ext cx="621000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AI Throughout the SDLC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CustomShape 3"/>
          <p:cNvSpPr/>
          <p:nvPr/>
        </p:nvSpPr>
        <p:spPr>
          <a:xfrm>
            <a:off x="4572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CustomShape 4"/>
          <p:cNvSpPr/>
          <p:nvPr/>
        </p:nvSpPr>
        <p:spPr>
          <a:xfrm>
            <a:off x="1850040" y="1920240"/>
            <a:ext cx="2516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Traditional SDLC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Code first, QA after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6" name="CustomShape 6"/>
          <p:cNvSpPr/>
          <p:nvPr/>
        </p:nvSpPr>
        <p:spPr>
          <a:xfrm>
            <a:off x="7315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Manual review catches issues late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7" name="CustomShape 7"/>
          <p:cNvSpPr/>
          <p:nvPr/>
        </p:nvSpPr>
        <p:spPr>
          <a:xfrm>
            <a:off x="7315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Code review is very time consuming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8" name="CustomShape 8"/>
          <p:cNvSpPr/>
          <p:nvPr/>
        </p:nvSpPr>
        <p:spPr>
          <a:xfrm>
            <a:off x="7315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Documentation is often not kept up to date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9" name="CustomShape 9"/>
          <p:cNvSpPr/>
          <p:nvPr/>
        </p:nvSpPr>
        <p:spPr>
          <a:xfrm>
            <a:off x="64008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CustomShape 10"/>
          <p:cNvSpPr/>
          <p:nvPr/>
        </p:nvSpPr>
        <p:spPr>
          <a:xfrm>
            <a:off x="7907040" y="1920240"/>
            <a:ext cx="22888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b82f6"/>
                </a:solidFill>
                <a:latin typeface="Inter"/>
                <a:ea typeface="DejaVu Sans"/>
              </a:rPr>
              <a:t>AI-Native SDLC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1" name="CustomShape 11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Validate during development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2" name="CustomShape 12"/>
          <p:cNvSpPr/>
          <p:nvPr/>
        </p:nvSpPr>
        <p:spPr>
          <a:xfrm>
            <a:off x="66751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AI runs tests after every change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3" name="CustomShape 13"/>
          <p:cNvSpPr/>
          <p:nvPr/>
        </p:nvSpPr>
        <p:spPr>
          <a:xfrm>
            <a:off x="66751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AI-assisted code review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4" name="CustomShape 14"/>
          <p:cNvSpPr/>
          <p:nvPr/>
        </p:nvSpPr>
        <p:spPr>
          <a:xfrm>
            <a:off x="66751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AI layer builds in context persistence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759960" y="1005840"/>
            <a:ext cx="1222200" cy="313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0" spc="-1" strike="noStrike">
                <a:solidFill>
                  <a:srgbClr val="3b82f6"/>
                </a:solidFill>
                <a:latin typeface="Georgia"/>
                <a:ea typeface="DejaVu Sans"/>
              </a:rPr>
              <a:t>“</a:t>
            </a:r>
            <a:endParaRPr b="0" lang="en-US" sz="200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914760" y="2194560"/>
            <a:ext cx="108000" cy="2284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CustomShape 3"/>
          <p:cNvSpPr/>
          <p:nvPr/>
        </p:nvSpPr>
        <p:spPr>
          <a:xfrm>
            <a:off x="1829160" y="2468880"/>
            <a:ext cx="959940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fafafa"/>
                </a:solidFill>
                <a:latin typeface="Inter"/>
                <a:ea typeface="DejaVu Sans"/>
              </a:rPr>
              <a:t>How can AI coding assistants be simultaneously extremely capable AND disappointing for so many developers?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8" name="CustomShape 4"/>
          <p:cNvSpPr/>
          <p:nvPr/>
        </p:nvSpPr>
        <p:spPr>
          <a:xfrm>
            <a:off x="5288400" y="4937760"/>
            <a:ext cx="17661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- The Paradox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3222360" y="365760"/>
            <a:ext cx="57452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The Data Tells a Story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458280" y="246888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CustomShape 3"/>
          <p:cNvSpPr/>
          <p:nvPr/>
        </p:nvSpPr>
        <p:spPr>
          <a:xfrm>
            <a:off x="580680" y="2775960"/>
            <a:ext cx="2313360" cy="11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7200" spc="-1" strike="noStrike">
                <a:solidFill>
                  <a:srgbClr val="3b82f6"/>
                </a:solidFill>
                <a:latin typeface="Inter"/>
                <a:ea typeface="DejaVu Sans"/>
              </a:rPr>
              <a:t>90%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72" name="CustomShape 4"/>
          <p:cNvSpPr/>
          <p:nvPr/>
        </p:nvSpPr>
        <p:spPr>
          <a:xfrm>
            <a:off x="458280" y="4330440"/>
            <a:ext cx="2558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Using AI coding tools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3" name="CustomShape 5"/>
          <p:cNvSpPr/>
          <p:nvPr/>
        </p:nvSpPr>
        <p:spPr>
          <a:xfrm>
            <a:off x="3506760" y="2775960"/>
            <a:ext cx="2313360" cy="11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7200" spc="-1" strike="noStrike">
                <a:solidFill>
                  <a:srgbClr val="f87171"/>
                </a:solidFill>
                <a:latin typeface="Inter"/>
                <a:ea typeface="DejaVu Sans"/>
              </a:rPr>
              <a:t>46%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74" name="CustomShape 6"/>
          <p:cNvSpPr/>
          <p:nvPr/>
        </p:nvSpPr>
        <p:spPr>
          <a:xfrm>
            <a:off x="3384360" y="4330440"/>
            <a:ext cx="2558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Distrust AI accuracy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5" name="CustomShape 7"/>
          <p:cNvSpPr/>
          <p:nvPr/>
        </p:nvSpPr>
        <p:spPr>
          <a:xfrm>
            <a:off x="6432840" y="2775960"/>
            <a:ext cx="2313360" cy="11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7200" spc="-1" strike="noStrike">
                <a:solidFill>
                  <a:srgbClr val="60a5fa"/>
                </a:solidFill>
                <a:latin typeface="Inter"/>
                <a:ea typeface="DejaVu Sans"/>
              </a:rPr>
              <a:t>30%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76" name="CustomShape 8"/>
          <p:cNvSpPr/>
          <p:nvPr/>
        </p:nvSpPr>
        <p:spPr>
          <a:xfrm>
            <a:off x="6310440" y="4330440"/>
            <a:ext cx="2558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Avg acceptance rate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7" name="CustomShape 9"/>
          <p:cNvSpPr/>
          <p:nvPr/>
        </p:nvSpPr>
        <p:spPr>
          <a:xfrm>
            <a:off x="9358920" y="2775960"/>
            <a:ext cx="2313360" cy="118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7200" spc="-1" strike="noStrike">
                <a:solidFill>
                  <a:srgbClr val="4ade80"/>
                </a:solidFill>
                <a:latin typeface="Inter"/>
                <a:ea typeface="DejaVu Sans"/>
              </a:rPr>
              <a:t>88%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178" name="CustomShape 10"/>
          <p:cNvSpPr/>
          <p:nvPr/>
        </p:nvSpPr>
        <p:spPr>
          <a:xfrm>
            <a:off x="9236520" y="4330440"/>
            <a:ext cx="25585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Top users' acceptance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2440440" y="365760"/>
            <a:ext cx="73090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Same Tool, Different Results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0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CustomShape 3"/>
          <p:cNvSpPr/>
          <p:nvPr/>
        </p:nvSpPr>
        <p:spPr>
          <a:xfrm>
            <a:off x="4572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CustomShape 4"/>
          <p:cNvSpPr/>
          <p:nvPr/>
        </p:nvSpPr>
        <p:spPr>
          <a:xfrm>
            <a:off x="1335600" y="1920240"/>
            <a:ext cx="35445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87171"/>
                </a:solidFill>
                <a:latin typeface="Inter"/>
                <a:ea typeface="DejaVu Sans"/>
              </a:rPr>
              <a:t>Developer 1 (Struggling)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3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Jumps straight into coding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4" name="CustomShape 6"/>
          <p:cNvSpPr/>
          <p:nvPr/>
        </p:nvSpPr>
        <p:spPr>
          <a:xfrm>
            <a:off x="7315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Provides minimal context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CustomShape 7"/>
          <p:cNvSpPr/>
          <p:nvPr/>
        </p:nvSpPr>
        <p:spPr>
          <a:xfrm>
            <a:off x="7315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No validation process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6" name="CustomShape 8"/>
          <p:cNvSpPr/>
          <p:nvPr/>
        </p:nvSpPr>
        <p:spPr>
          <a:xfrm>
            <a:off x="7315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Ends up fixing code for hours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7" name="CustomShape 9"/>
          <p:cNvSpPr/>
          <p:nvPr/>
        </p:nvSpPr>
        <p:spPr>
          <a:xfrm>
            <a:off x="64008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CustomShape 10"/>
          <p:cNvSpPr/>
          <p:nvPr/>
        </p:nvSpPr>
        <p:spPr>
          <a:xfrm>
            <a:off x="7431480" y="1920240"/>
            <a:ext cx="3240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Inter"/>
                <a:ea typeface="DejaVu Sans"/>
              </a:rPr>
              <a:t>Developer 2 (Thriving)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9" name="CustomShape 11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Plans before implementing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0" name="CustomShape 12"/>
          <p:cNvSpPr/>
          <p:nvPr/>
        </p:nvSpPr>
        <p:spPr>
          <a:xfrm>
            <a:off x="66751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Provides rich context (context engineering)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1" name="CustomShape 13"/>
          <p:cNvSpPr/>
          <p:nvPr/>
        </p:nvSpPr>
        <p:spPr>
          <a:xfrm>
            <a:off x="66751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Reviews and validates output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2" name="CustomShape 14"/>
          <p:cNvSpPr/>
          <p:nvPr/>
        </p:nvSpPr>
        <p:spPr>
          <a:xfrm>
            <a:off x="66751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Evolves their AI layer over time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3486240" y="1481760"/>
            <a:ext cx="526212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cccccc"/>
                </a:solidFill>
                <a:latin typeface="Inter"/>
                <a:ea typeface="DejaVu Sans"/>
              </a:rPr>
              <a:t>THE DIFFERENCE IS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4" name="CustomShape 2"/>
          <p:cNvSpPr/>
          <p:nvPr/>
        </p:nvSpPr>
        <p:spPr>
          <a:xfrm>
            <a:off x="2377440" y="2396160"/>
            <a:ext cx="7479720" cy="13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8000" spc="-1" strike="noStrike">
                <a:solidFill>
                  <a:srgbClr val="3b82f6"/>
                </a:solidFill>
                <a:latin typeface="Inter"/>
                <a:ea typeface="DejaVu Sans"/>
              </a:rPr>
              <a:t>THE SYSTEM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195" name="CustomShape 3"/>
          <p:cNvSpPr/>
          <p:nvPr/>
        </p:nvSpPr>
        <p:spPr>
          <a:xfrm>
            <a:off x="2660760" y="4042080"/>
            <a:ext cx="69127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Inter"/>
                <a:ea typeface="DejaVu Sans"/>
              </a:rPr>
              <a:t>How well you build and leverage your AI layer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6" name="CustomShape 4"/>
          <p:cNvSpPr/>
          <p:nvPr/>
        </p:nvSpPr>
        <p:spPr>
          <a:xfrm>
            <a:off x="5051520" y="5322240"/>
            <a:ext cx="2131560" cy="71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3814920" y="457200"/>
            <a:ext cx="455976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The Good News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98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9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2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Learn-able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3" name="CustomShape 7"/>
          <p:cNvSpPr/>
          <p:nvPr/>
        </p:nvSpPr>
        <p:spPr>
          <a:xfrm>
            <a:off x="1005840" y="420624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Build your AI layer with a systematic approach we’ll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cover today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4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8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Repeatable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9" name="CustomShape 13"/>
          <p:cNvSpPr/>
          <p:nvPr/>
        </p:nvSpPr>
        <p:spPr>
          <a:xfrm>
            <a:off x="4389120" y="457200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Your system works across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Sessions and even projects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0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4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Evolving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5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Every bug is an opportunity to improve your AI layer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CustomShape 2"/>
          <p:cNvSpPr/>
          <p:nvPr/>
        </p:nvSpPr>
        <p:spPr>
          <a:xfrm>
            <a:off x="1517760" y="457200"/>
            <a:ext cx="903240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Exercise 1: Establish Your Baseline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8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CustomShape 4"/>
          <p:cNvSpPr/>
          <p:nvPr/>
        </p:nvSpPr>
        <p:spPr>
          <a:xfrm>
            <a:off x="548640" y="1828800"/>
            <a:ext cx="10971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Clone the repository and switch to exercise-1 branch: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0" name="CustomShape 5"/>
          <p:cNvSpPr/>
          <p:nvPr/>
        </p:nvSpPr>
        <p:spPr>
          <a:xfrm>
            <a:off x="548640" y="2560320"/>
            <a:ext cx="1097100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git clone https://github.com/dynamous-business/nextjs-feature-flag-exercise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1" name="CustomShape 6"/>
          <p:cNvSpPr/>
          <p:nvPr/>
        </p:nvSpPr>
        <p:spPr>
          <a:xfrm>
            <a:off x="548640" y="3108960"/>
            <a:ext cx="1097100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cd nextjs-feature-flag-exercise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2" name="CustomShape 7"/>
          <p:cNvSpPr/>
          <p:nvPr/>
        </p:nvSpPr>
        <p:spPr>
          <a:xfrm>
            <a:off x="548640" y="3657600"/>
            <a:ext cx="1097100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git checkout exercise-1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3" name="CustomShape 8"/>
          <p:cNvSpPr/>
          <p:nvPr/>
        </p:nvSpPr>
        <p:spPr>
          <a:xfrm>
            <a:off x="548640" y="4480560"/>
            <a:ext cx="10971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Apply your current AI workflow to build the filtering feature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4" name="CustomShape 9"/>
          <p:cNvSpPr/>
          <p:nvPr/>
        </p:nvSpPr>
        <p:spPr>
          <a:xfrm>
            <a:off x="548640" y="5212080"/>
            <a:ext cx="10971000" cy="9129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CustomShape 10"/>
          <p:cNvSpPr/>
          <p:nvPr/>
        </p:nvSpPr>
        <p:spPr>
          <a:xfrm>
            <a:off x="823320" y="5487480"/>
            <a:ext cx="104223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Goal: Build filtering for feature flags using your existing workflow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7" name="CustomShape 2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0" spc="-1" strike="noStrike">
                <a:solidFill>
                  <a:srgbClr val="3b82f6"/>
                </a:solidFill>
                <a:latin typeface="Inter"/>
                <a:ea typeface="DejaVu Sans"/>
              </a:rPr>
              <a:t>02</a:t>
            </a:r>
            <a:endParaRPr b="0" lang="en-US" sz="12000" spc="-1" strike="noStrike">
              <a:latin typeface="Arial"/>
            </a:endParaRPr>
          </a:p>
        </p:txBody>
      </p:sp>
      <p:sp>
        <p:nvSpPr>
          <p:cNvPr id="228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CustomShape 4"/>
          <p:cNvSpPr/>
          <p:nvPr/>
        </p:nvSpPr>
        <p:spPr>
          <a:xfrm>
            <a:off x="4754880" y="2377440"/>
            <a:ext cx="68562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Setting the Stage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30" name="CustomShape 5"/>
          <p:cNvSpPr/>
          <p:nvPr/>
        </p:nvSpPr>
        <p:spPr>
          <a:xfrm>
            <a:off x="4754880" y="384048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Before the PIV Loop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1831680" y="457200"/>
            <a:ext cx="852660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The PRD - Your Scope of Work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5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6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Problem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7" name="CustomShape 7"/>
          <p:cNvSpPr/>
          <p:nvPr/>
        </p:nvSpPr>
        <p:spPr>
          <a:xfrm>
            <a:off x="1005840" y="420624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Who has what problem and what's the cost of not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solving it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8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2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Success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3" name="CustomShape 13"/>
          <p:cNvSpPr/>
          <p:nvPr/>
        </p:nvSpPr>
        <p:spPr>
          <a:xfrm>
            <a:off x="4389120" y="457200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Measurable outcomes that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tell you when you're done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4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8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Phases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9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Ordered roadmap of implementation phases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2928960" y="365760"/>
            <a:ext cx="63320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Greenfield vs Brownfield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CustomShape 3"/>
          <p:cNvSpPr/>
          <p:nvPr/>
        </p:nvSpPr>
        <p:spPr>
          <a:xfrm>
            <a:off x="4572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CustomShape 4"/>
          <p:cNvSpPr/>
          <p:nvPr/>
        </p:nvSpPr>
        <p:spPr>
          <a:xfrm>
            <a:off x="457200" y="1645920"/>
            <a:ext cx="5301720" cy="896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CustomShape 5"/>
          <p:cNvSpPr/>
          <p:nvPr/>
        </p:nvSpPr>
        <p:spPr>
          <a:xfrm>
            <a:off x="1296720" y="1920240"/>
            <a:ext cx="362232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2c55e"/>
                </a:solidFill>
                <a:latin typeface="Inter"/>
                <a:ea typeface="DejaVu Sans"/>
              </a:rPr>
              <a:t>Greenfield (New Project)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5" name="CustomShape 6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Start with template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6" name="CustomShape 7"/>
          <p:cNvSpPr/>
          <p:nvPr/>
        </p:nvSpPr>
        <p:spPr>
          <a:xfrm>
            <a:off x="731520" y="32461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Create PRD first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7" name="CustomShape 8"/>
          <p:cNvSpPr/>
          <p:nvPr/>
        </p:nvSpPr>
        <p:spPr>
          <a:xfrm>
            <a:off x="731520" y="39319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Establish global rules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8" name="CustomShape 9"/>
          <p:cNvSpPr/>
          <p:nvPr/>
        </p:nvSpPr>
        <p:spPr>
          <a:xfrm>
            <a:off x="731520" y="46177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Build on-demand context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9" name="CustomShape 10"/>
          <p:cNvSpPr/>
          <p:nvPr/>
        </p:nvSpPr>
        <p:spPr>
          <a:xfrm>
            <a:off x="731520" y="53035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Create skills/commands as you go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0" name="CustomShape 11"/>
          <p:cNvSpPr/>
          <p:nvPr/>
        </p:nvSpPr>
        <p:spPr>
          <a:xfrm>
            <a:off x="64008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CustomShape 12"/>
          <p:cNvSpPr/>
          <p:nvPr/>
        </p:nvSpPr>
        <p:spPr>
          <a:xfrm>
            <a:off x="6400800" y="1645920"/>
            <a:ext cx="5301720" cy="89640"/>
          </a:xfrm>
          <a:prstGeom prst="rect">
            <a:avLst/>
          </a:prstGeom>
          <a:solidFill>
            <a:srgbClr val="a1620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CustomShape 13"/>
          <p:cNvSpPr/>
          <p:nvPr/>
        </p:nvSpPr>
        <p:spPr>
          <a:xfrm>
            <a:off x="7505640" y="1920240"/>
            <a:ext cx="3092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a16207"/>
                </a:solidFill>
                <a:latin typeface="Inter"/>
                <a:ea typeface="DejaVu Sans"/>
              </a:rPr>
              <a:t>Brownfield (Existing)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3" name="CustomShape 14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Understand existing codebase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4" name="CustomShape 15"/>
          <p:cNvSpPr/>
          <p:nvPr/>
        </p:nvSpPr>
        <p:spPr>
          <a:xfrm>
            <a:off x="6675120" y="32461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Extract rules from patterns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5" name="CustomShape 16"/>
          <p:cNvSpPr/>
          <p:nvPr/>
        </p:nvSpPr>
        <p:spPr>
          <a:xfrm>
            <a:off x="6675120" y="39319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Document architecture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6" name="CustomShape 17"/>
          <p:cNvSpPr/>
          <p:nvPr/>
        </p:nvSpPr>
        <p:spPr>
          <a:xfrm>
            <a:off x="6675120" y="46177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Create skills/commands for common tasks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7" name="CustomShape 18"/>
          <p:cNvSpPr/>
          <p:nvPr/>
        </p:nvSpPr>
        <p:spPr>
          <a:xfrm>
            <a:off x="6675120" y="53035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Build AI layer incrementally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CustomShape 2"/>
          <p:cNvSpPr/>
          <p:nvPr/>
        </p:nvSpPr>
        <p:spPr>
          <a:xfrm>
            <a:off x="767160" y="2560320"/>
            <a:ext cx="2578320" cy="161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0" spc="-1" strike="noStrike">
                <a:solidFill>
                  <a:srgbClr val="3b82f6"/>
                </a:solidFill>
                <a:latin typeface="Inter"/>
                <a:ea typeface="DejaVu Sans"/>
              </a:rPr>
              <a:t>PIV</a:t>
            </a:r>
            <a:endParaRPr b="0" lang="en-US" sz="10000" spc="-1" strike="noStrike"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CustomShape 4"/>
          <p:cNvSpPr/>
          <p:nvPr/>
        </p:nvSpPr>
        <p:spPr>
          <a:xfrm>
            <a:off x="4754880" y="2194560"/>
            <a:ext cx="68562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The PIV Loop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2" name="CustomShape 5"/>
          <p:cNvSpPr/>
          <p:nvPr/>
        </p:nvSpPr>
        <p:spPr>
          <a:xfrm>
            <a:off x="4754880" y="3657600"/>
            <a:ext cx="68562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Inter"/>
                <a:ea typeface="DejaVu Sans"/>
              </a:rPr>
              <a:t>Plan - Implement - Validate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2795400" y="457200"/>
            <a:ext cx="659880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The Core Mental Model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74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7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78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Plan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9" name="CustomShape 7"/>
          <p:cNvSpPr/>
          <p:nvPr/>
        </p:nvSpPr>
        <p:spPr>
          <a:xfrm>
            <a:off x="1005840" y="420624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Reduce agent assumptions through explicit planning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0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1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3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84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Implement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5" name="CustomShape 13"/>
          <p:cNvSpPr/>
          <p:nvPr/>
        </p:nvSpPr>
        <p:spPr>
          <a:xfrm>
            <a:off x="4389120" y="457200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Trust but verify – delegate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the coding to the agent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6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9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90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Validate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1" name="CustomShape 19"/>
          <p:cNvSpPr/>
          <p:nvPr/>
        </p:nvSpPr>
        <p:spPr>
          <a:xfrm>
            <a:off x="7772400" y="402336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Catch issues before they compound (and let the agent do the same)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3075120" y="365760"/>
            <a:ext cx="603936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Two Layers of Planning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CustomShape 3"/>
          <p:cNvSpPr/>
          <p:nvPr/>
        </p:nvSpPr>
        <p:spPr>
          <a:xfrm>
            <a:off x="4572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CustomShape 4"/>
          <p:cNvSpPr/>
          <p:nvPr/>
        </p:nvSpPr>
        <p:spPr>
          <a:xfrm>
            <a:off x="1273320" y="1920240"/>
            <a:ext cx="36694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b82f6"/>
                </a:solidFill>
                <a:latin typeface="Inter"/>
                <a:ea typeface="DejaVu Sans"/>
              </a:rPr>
              <a:t>Layer 1: Project Planning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6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Done once, updated rarely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731520" y="32461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Tech stack decisions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8" name="CustomShape 7"/>
          <p:cNvSpPr/>
          <p:nvPr/>
        </p:nvSpPr>
        <p:spPr>
          <a:xfrm>
            <a:off x="731520" y="39319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Architecture patterns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99" name="CustomShape 8"/>
          <p:cNvSpPr/>
          <p:nvPr/>
        </p:nvSpPr>
        <p:spPr>
          <a:xfrm>
            <a:off x="731520" y="46177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Rules: constraints + conventions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731520" y="53035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Creating stable resources (including PRD)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1" name="CustomShape 10"/>
          <p:cNvSpPr/>
          <p:nvPr/>
        </p:nvSpPr>
        <p:spPr>
          <a:xfrm>
            <a:off x="64008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2" name="CustomShape 11"/>
          <p:cNvSpPr/>
          <p:nvPr/>
        </p:nvSpPr>
        <p:spPr>
          <a:xfrm>
            <a:off x="7388280" y="1920240"/>
            <a:ext cx="3326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60a5fa"/>
                </a:solidFill>
                <a:latin typeface="Inter"/>
                <a:ea typeface="DejaVu Sans"/>
              </a:rPr>
              <a:t>Layer 2: Task Planning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3" name="CustomShape 12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Per feature or task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4" name="CustomShape 13"/>
          <p:cNvSpPr/>
          <p:nvPr/>
        </p:nvSpPr>
        <p:spPr>
          <a:xfrm>
            <a:off x="6675120" y="32461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Codebase analysis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5" name="CustomShape 14"/>
          <p:cNvSpPr/>
          <p:nvPr/>
        </p:nvSpPr>
        <p:spPr>
          <a:xfrm>
            <a:off x="6675120" y="39319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Implementation approach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6" name="CustomShape 15"/>
          <p:cNvSpPr/>
          <p:nvPr/>
        </p:nvSpPr>
        <p:spPr>
          <a:xfrm>
            <a:off x="6675120" y="46177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Testing strategy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07" name="CustomShape 16"/>
          <p:cNvSpPr/>
          <p:nvPr/>
        </p:nvSpPr>
        <p:spPr>
          <a:xfrm>
            <a:off x="6675120" y="53035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Integration considerations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4115520" y="1555200"/>
            <a:ext cx="3655800" cy="365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9" name="CustomShape 2"/>
          <p:cNvSpPr/>
          <p:nvPr/>
        </p:nvSpPr>
        <p:spPr>
          <a:xfrm>
            <a:off x="4115520" y="2652480"/>
            <a:ext cx="365580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fafafa"/>
                </a:solidFill>
                <a:latin typeface="Inter"/>
                <a:ea typeface="DejaVu Sans"/>
              </a:rPr>
              <a:t>Detailed Plan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4115520" y="3841200"/>
            <a:ext cx="365580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Context Engineering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1" name="CustomShape 4"/>
          <p:cNvSpPr/>
          <p:nvPr/>
        </p:nvSpPr>
        <p:spPr>
          <a:xfrm>
            <a:off x="3108960" y="1554480"/>
            <a:ext cx="729720" cy="72972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CustomShape 5"/>
          <p:cNvSpPr/>
          <p:nvPr/>
        </p:nvSpPr>
        <p:spPr>
          <a:xfrm>
            <a:off x="2651760" y="2468880"/>
            <a:ext cx="16441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Prompts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3" name="CustomShape 6"/>
          <p:cNvSpPr/>
          <p:nvPr/>
        </p:nvSpPr>
        <p:spPr>
          <a:xfrm>
            <a:off x="7772400" y="1188720"/>
            <a:ext cx="729720" cy="72972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4" name="CustomShape 7"/>
          <p:cNvSpPr/>
          <p:nvPr/>
        </p:nvSpPr>
        <p:spPr>
          <a:xfrm>
            <a:off x="7315200" y="2103120"/>
            <a:ext cx="16441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RAG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5" name="CustomShape 8"/>
          <p:cNvSpPr/>
          <p:nvPr/>
        </p:nvSpPr>
        <p:spPr>
          <a:xfrm>
            <a:off x="3109680" y="4480560"/>
            <a:ext cx="729720" cy="72972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CustomShape 9"/>
          <p:cNvSpPr/>
          <p:nvPr/>
        </p:nvSpPr>
        <p:spPr>
          <a:xfrm>
            <a:off x="2652480" y="5394960"/>
            <a:ext cx="164412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Memory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7" name="CustomShape 10"/>
          <p:cNvSpPr/>
          <p:nvPr/>
        </p:nvSpPr>
        <p:spPr>
          <a:xfrm>
            <a:off x="8046720" y="3840480"/>
            <a:ext cx="729720" cy="729720"/>
          </a:xfrm>
          <a:prstGeom prst="ellipse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CustomShape 11"/>
          <p:cNvSpPr/>
          <p:nvPr/>
        </p:nvSpPr>
        <p:spPr>
          <a:xfrm>
            <a:off x="7589520" y="4754880"/>
            <a:ext cx="164412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Task Management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ustomShape 1"/>
          <p:cNvSpPr/>
          <p:nvPr/>
        </p:nvSpPr>
        <p:spPr>
          <a:xfrm>
            <a:off x="760320" y="1098720"/>
            <a:ext cx="1222200" cy="313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0" spc="-1" strike="noStrike">
                <a:solidFill>
                  <a:srgbClr val="3b82f6"/>
                </a:solidFill>
                <a:latin typeface="Georgia"/>
                <a:ea typeface="DejaVu Sans"/>
              </a:rPr>
              <a:t>“</a:t>
            </a:r>
            <a:endParaRPr b="0" lang="en-US" sz="20000" spc="-1" strike="noStrike">
              <a:latin typeface="Arial"/>
            </a:endParaRPr>
          </a:p>
        </p:txBody>
      </p:sp>
      <p:sp>
        <p:nvSpPr>
          <p:cNvPr id="320" name="CustomShape 2"/>
          <p:cNvSpPr/>
          <p:nvPr/>
        </p:nvSpPr>
        <p:spPr>
          <a:xfrm>
            <a:off x="915120" y="2287440"/>
            <a:ext cx="108000" cy="2284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CustomShape 3"/>
          <p:cNvSpPr/>
          <p:nvPr/>
        </p:nvSpPr>
        <p:spPr>
          <a:xfrm>
            <a:off x="1829520" y="2563920"/>
            <a:ext cx="959940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fafafa"/>
                </a:solidFill>
                <a:latin typeface="Inter"/>
                <a:ea typeface="DejaVu Sans"/>
              </a:rPr>
              <a:t>Let the agent do the coding, but monitor to make sure it understands the plan and validates its work.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22" name="CustomShape 4"/>
          <p:cNvSpPr/>
          <p:nvPr/>
        </p:nvSpPr>
        <p:spPr>
          <a:xfrm>
            <a:off x="5119560" y="5030640"/>
            <a:ext cx="210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- Trust But Verify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3833280" y="365760"/>
            <a:ext cx="45230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Validation Layers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CustomShape 3"/>
          <p:cNvSpPr/>
          <p:nvPr/>
        </p:nvSpPr>
        <p:spPr>
          <a:xfrm>
            <a:off x="274320" y="1645920"/>
            <a:ext cx="218052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CustomShape 4"/>
          <p:cNvSpPr/>
          <p:nvPr/>
        </p:nvSpPr>
        <p:spPr>
          <a:xfrm>
            <a:off x="274320" y="1645920"/>
            <a:ext cx="218052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CustomShape 5"/>
          <p:cNvSpPr/>
          <p:nvPr/>
        </p:nvSpPr>
        <p:spPr>
          <a:xfrm>
            <a:off x="1206000" y="1874520"/>
            <a:ext cx="316800" cy="2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4ade80"/>
                </a:solidFill>
                <a:latin typeface="Inter"/>
                <a:ea typeface="DejaVu Sans"/>
              </a:rPr>
              <a:t>AI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8" name="CustomShape 6"/>
          <p:cNvSpPr/>
          <p:nvPr/>
        </p:nvSpPr>
        <p:spPr>
          <a:xfrm>
            <a:off x="391680" y="2243160"/>
            <a:ext cx="1984680" cy="54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Type Checking/Linting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9" name="CustomShape 7"/>
          <p:cNvSpPr/>
          <p:nvPr/>
        </p:nvSpPr>
        <p:spPr>
          <a:xfrm>
            <a:off x="411480" y="3108960"/>
            <a:ext cx="1906200" cy="63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AI runs linting and type checking after changes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0" name="CustomShape 8"/>
          <p:cNvSpPr/>
          <p:nvPr/>
        </p:nvSpPr>
        <p:spPr>
          <a:xfrm>
            <a:off x="2639520" y="1645920"/>
            <a:ext cx="218052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1" name="CustomShape 9"/>
          <p:cNvSpPr/>
          <p:nvPr/>
        </p:nvSpPr>
        <p:spPr>
          <a:xfrm>
            <a:off x="2639520" y="1645920"/>
            <a:ext cx="218052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CustomShape 10"/>
          <p:cNvSpPr/>
          <p:nvPr/>
        </p:nvSpPr>
        <p:spPr>
          <a:xfrm>
            <a:off x="3571200" y="1874520"/>
            <a:ext cx="316800" cy="2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4ade80"/>
                </a:solidFill>
                <a:latin typeface="Inter"/>
                <a:ea typeface="DejaVu Sans"/>
              </a:rPr>
              <a:t>AI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3" name="CustomShape 11"/>
          <p:cNvSpPr/>
          <p:nvPr/>
        </p:nvSpPr>
        <p:spPr>
          <a:xfrm>
            <a:off x="2776680" y="2286000"/>
            <a:ext cx="190620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Unit Tests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4" name="CustomShape 12"/>
          <p:cNvSpPr/>
          <p:nvPr/>
        </p:nvSpPr>
        <p:spPr>
          <a:xfrm>
            <a:off x="2776680" y="3108960"/>
            <a:ext cx="1906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AI runs automated test suites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5" name="CustomShape 13"/>
          <p:cNvSpPr/>
          <p:nvPr/>
        </p:nvSpPr>
        <p:spPr>
          <a:xfrm>
            <a:off x="5004720" y="1645920"/>
            <a:ext cx="218052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6" name="CustomShape 14"/>
          <p:cNvSpPr/>
          <p:nvPr/>
        </p:nvSpPr>
        <p:spPr>
          <a:xfrm>
            <a:off x="5004720" y="1645920"/>
            <a:ext cx="218052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CustomShape 15"/>
          <p:cNvSpPr/>
          <p:nvPr/>
        </p:nvSpPr>
        <p:spPr>
          <a:xfrm>
            <a:off x="5936400" y="1874520"/>
            <a:ext cx="316800" cy="2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4ade80"/>
                </a:solidFill>
                <a:latin typeface="Inter"/>
                <a:ea typeface="DejaVu Sans"/>
              </a:rPr>
              <a:t>AI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8" name="CustomShape 16"/>
          <p:cNvSpPr/>
          <p:nvPr/>
        </p:nvSpPr>
        <p:spPr>
          <a:xfrm>
            <a:off x="5120640" y="2286000"/>
            <a:ext cx="206460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Integration Tests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39" name="CustomShape 17"/>
          <p:cNvSpPr/>
          <p:nvPr/>
        </p:nvSpPr>
        <p:spPr>
          <a:xfrm>
            <a:off x="5141880" y="3108960"/>
            <a:ext cx="1906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AI validates end-to-end flows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0" name="CustomShape 18"/>
          <p:cNvSpPr/>
          <p:nvPr/>
        </p:nvSpPr>
        <p:spPr>
          <a:xfrm>
            <a:off x="7369920" y="1645920"/>
            <a:ext cx="218052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CustomShape 19"/>
          <p:cNvSpPr/>
          <p:nvPr/>
        </p:nvSpPr>
        <p:spPr>
          <a:xfrm>
            <a:off x="7369920" y="1645920"/>
            <a:ext cx="218052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CustomShape 20"/>
          <p:cNvSpPr/>
          <p:nvPr/>
        </p:nvSpPr>
        <p:spPr>
          <a:xfrm>
            <a:off x="8127360" y="1874520"/>
            <a:ext cx="665640" cy="2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3b82f6"/>
                </a:solidFill>
                <a:latin typeface="Inter"/>
                <a:ea typeface="DejaVu Sans"/>
              </a:rPr>
              <a:t>Human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3" name="CustomShape 21"/>
          <p:cNvSpPr/>
          <p:nvPr/>
        </p:nvSpPr>
        <p:spPr>
          <a:xfrm>
            <a:off x="7507080" y="2286000"/>
            <a:ext cx="190620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Code Review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4" name="CustomShape 22"/>
          <p:cNvSpPr/>
          <p:nvPr/>
        </p:nvSpPr>
        <p:spPr>
          <a:xfrm>
            <a:off x="7507080" y="3108960"/>
            <a:ext cx="1906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We inspect code quality and logic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5" name="CustomShape 23"/>
          <p:cNvSpPr/>
          <p:nvPr/>
        </p:nvSpPr>
        <p:spPr>
          <a:xfrm>
            <a:off x="9735120" y="1645920"/>
            <a:ext cx="218052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CustomShape 24"/>
          <p:cNvSpPr/>
          <p:nvPr/>
        </p:nvSpPr>
        <p:spPr>
          <a:xfrm>
            <a:off x="9735120" y="1645920"/>
            <a:ext cx="218052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7" name="CustomShape 25"/>
          <p:cNvSpPr/>
          <p:nvPr/>
        </p:nvSpPr>
        <p:spPr>
          <a:xfrm>
            <a:off x="10492560" y="1874520"/>
            <a:ext cx="665640" cy="2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3b82f6"/>
                </a:solidFill>
                <a:latin typeface="Inter"/>
                <a:ea typeface="DejaVu Sans"/>
              </a:rPr>
              <a:t>Human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8" name="CustomShape 26"/>
          <p:cNvSpPr/>
          <p:nvPr/>
        </p:nvSpPr>
        <p:spPr>
          <a:xfrm>
            <a:off x="9872280" y="2286000"/>
            <a:ext cx="190620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Manual Tests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9" name="CustomShape 27"/>
          <p:cNvSpPr/>
          <p:nvPr/>
        </p:nvSpPr>
        <p:spPr>
          <a:xfrm>
            <a:off x="9872280" y="3108960"/>
            <a:ext cx="1906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We verify through hands-on testing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0" y="0"/>
            <a:ext cx="71280" cy="6856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1517760" y="457200"/>
            <a:ext cx="9033120" cy="63900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Exercise 2: Apply the PIV Loop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548640" y="1371600"/>
            <a:ext cx="2284920" cy="53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548640" y="1828800"/>
            <a:ext cx="10971720" cy="39204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Switch to the exercise-2 branch: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548640" y="256032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git checkout exercise-2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548640" y="32918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Work with your coding agent to create a plan, then validate it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548640" y="37490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Implement the plan in a NEW context window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548640" y="42062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Include validation steps in your plan, then validate yourself after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548640" y="46634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You can use skills/commands for this exercise - we'll also cover them more next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9" name="CustomShape 10"/>
          <p:cNvSpPr/>
          <p:nvPr/>
        </p:nvSpPr>
        <p:spPr>
          <a:xfrm>
            <a:off x="548640" y="5394960"/>
            <a:ext cx="10971720" cy="91332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CustomShape 11"/>
          <p:cNvSpPr/>
          <p:nvPr/>
        </p:nvSpPr>
        <p:spPr>
          <a:xfrm>
            <a:off x="822960" y="5669280"/>
            <a:ext cx="1042308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Goal: Build the same filtering feature using a single PIV loop (Plan → Implement → Validate)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2" name="CustomShape 2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0" spc="-1" strike="noStrike">
                <a:solidFill>
                  <a:srgbClr val="3b82f6"/>
                </a:solidFill>
                <a:latin typeface="Inter"/>
                <a:ea typeface="DejaVu Sans"/>
              </a:rPr>
              <a:t>03</a:t>
            </a:r>
            <a:endParaRPr b="0" lang="en-US" sz="12000" spc="-1" strike="noStrike">
              <a:latin typeface="Arial"/>
            </a:endParaRPr>
          </a:p>
        </p:txBody>
      </p:sp>
      <p:sp>
        <p:nvSpPr>
          <p:cNvPr id="363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CustomShape 4"/>
          <p:cNvSpPr/>
          <p:nvPr/>
        </p:nvSpPr>
        <p:spPr>
          <a:xfrm>
            <a:off x="4754880" y="2377440"/>
            <a:ext cx="68562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Foundations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65" name="CustomShape 5"/>
          <p:cNvSpPr/>
          <p:nvPr/>
        </p:nvSpPr>
        <p:spPr>
          <a:xfrm>
            <a:off x="4754880" y="384048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Building Your AI Layer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CustomShape 2"/>
          <p:cNvSpPr/>
          <p:nvPr/>
        </p:nvSpPr>
        <p:spPr>
          <a:xfrm>
            <a:off x="4373640" y="457200"/>
            <a:ext cx="33206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Global Rules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68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0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Your day 1 onboarding for AI coding assistants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71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AGENTS.md becoming universal standard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73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Auto-loaded every session - no manual context setup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75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CustomShape 11"/>
          <p:cNvSpPr/>
          <p:nvPr/>
        </p:nvSpPr>
        <p:spPr>
          <a:xfrm>
            <a:off x="914400" y="512064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The stable constraints + conventions that apply to ANY task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CustomShape 1"/>
          <p:cNvSpPr/>
          <p:nvPr/>
        </p:nvSpPr>
        <p:spPr>
          <a:xfrm>
            <a:off x="-1828800" y="3657600"/>
            <a:ext cx="5484600" cy="3655800"/>
          </a:xfrm>
          <a:prstGeom prst="parallelogram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8" name="CustomShape 2"/>
          <p:cNvSpPr/>
          <p:nvPr/>
        </p:nvSpPr>
        <p:spPr>
          <a:xfrm>
            <a:off x="-2743200" y="5029200"/>
            <a:ext cx="4570200" cy="2741400"/>
          </a:xfrm>
          <a:prstGeom prst="parallelogram">
            <a:avLst>
              <a:gd name="adj" fmla="val 25000"/>
            </a:avLst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CustomShape 3"/>
          <p:cNvSpPr/>
          <p:nvPr/>
        </p:nvSpPr>
        <p:spPr>
          <a:xfrm>
            <a:off x="4114800" y="1828800"/>
            <a:ext cx="7587720" cy="167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5200" spc="-1" strike="noStrike">
                <a:solidFill>
                  <a:srgbClr val="fafafa"/>
                </a:solidFill>
                <a:latin typeface="Inter"/>
                <a:ea typeface="DejaVu Sans"/>
              </a:rPr>
              <a:t>The Context Loading Tax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380" name="CustomShape 4"/>
          <p:cNvSpPr/>
          <p:nvPr/>
        </p:nvSpPr>
        <p:spPr>
          <a:xfrm>
            <a:off x="4114800" y="3840480"/>
            <a:ext cx="75877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Inter"/>
                <a:ea typeface="DejaVu Sans"/>
              </a:rPr>
              <a:t>5-10 min EVERY session vs 30-60 min ONCE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1" name="CustomShape 5"/>
          <p:cNvSpPr/>
          <p:nvPr/>
        </p:nvSpPr>
        <p:spPr>
          <a:xfrm>
            <a:off x="11277360" y="0"/>
            <a:ext cx="912600" cy="912600"/>
          </a:xfrm>
          <a:prstGeom prst="rtTriangle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3067560" y="365760"/>
            <a:ext cx="60548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What to Include vs NOT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83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CustomShape 3"/>
          <p:cNvSpPr/>
          <p:nvPr/>
        </p:nvSpPr>
        <p:spPr>
          <a:xfrm>
            <a:off x="4572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CustomShape 4"/>
          <p:cNvSpPr/>
          <p:nvPr/>
        </p:nvSpPr>
        <p:spPr>
          <a:xfrm>
            <a:off x="1419480" y="1920240"/>
            <a:ext cx="33771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Inter"/>
                <a:ea typeface="DejaVu Sans"/>
              </a:rPr>
              <a:t>Include in Global Rules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86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Tech stack &amp; architecture overview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7" name="CustomShape 6"/>
          <p:cNvSpPr/>
          <p:nvPr/>
        </p:nvSpPr>
        <p:spPr>
          <a:xfrm>
            <a:off x="7315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Code style conventions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8" name="CustomShape 7"/>
          <p:cNvSpPr/>
          <p:nvPr/>
        </p:nvSpPr>
        <p:spPr>
          <a:xfrm>
            <a:off x="7315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Testing/logging requirements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9" name="CustomShape 8"/>
          <p:cNvSpPr/>
          <p:nvPr/>
        </p:nvSpPr>
        <p:spPr>
          <a:xfrm>
            <a:off x="7315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Common misconceptions you’ve seen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0" name="CustomShape 9"/>
          <p:cNvSpPr/>
          <p:nvPr/>
        </p:nvSpPr>
        <p:spPr>
          <a:xfrm>
            <a:off x="64008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CustomShape 10"/>
          <p:cNvSpPr/>
          <p:nvPr/>
        </p:nvSpPr>
        <p:spPr>
          <a:xfrm>
            <a:off x="8047440" y="1920240"/>
            <a:ext cx="20084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87171"/>
                </a:solidFill>
                <a:latin typeface="Inter"/>
                <a:ea typeface="DejaVu Sans"/>
              </a:rPr>
              <a:t>Don't Include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92" name="CustomShape 11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Universal knowledge (language basics)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3" name="CustomShape 12"/>
          <p:cNvSpPr/>
          <p:nvPr/>
        </p:nvSpPr>
        <p:spPr>
          <a:xfrm>
            <a:off x="66751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Detailed workflows (use commands/skills)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4" name="CustomShape 13"/>
          <p:cNvSpPr/>
          <p:nvPr/>
        </p:nvSpPr>
        <p:spPr>
          <a:xfrm>
            <a:off x="66751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Task-specific details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95" name="CustomShape 14"/>
          <p:cNvSpPr/>
          <p:nvPr/>
        </p:nvSpPr>
        <p:spPr>
          <a:xfrm>
            <a:off x="66751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Temporary instructions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3235320" y="457200"/>
            <a:ext cx="571932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On-Demand Context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8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9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01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Task Rules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2" name="CustomShape 7"/>
          <p:cNvSpPr/>
          <p:nvPr/>
        </p:nvSpPr>
        <p:spPr>
          <a:xfrm>
            <a:off x="960840" y="420624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Frontend best practices, API patterns, DB conventions, etc.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03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4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07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Referenced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8" name="CustomShape 13"/>
          <p:cNvSpPr/>
          <p:nvPr/>
        </p:nvSpPr>
        <p:spPr>
          <a:xfrm>
            <a:off x="4389120" y="457200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Paths in AGENTS.md or commands to load when relevant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09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13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Via Skills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4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Progressive disclosure keeps context focused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2218680" y="365760"/>
            <a:ext cx="77522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Skills - Progressive Disclosure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6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7" name="CustomShape 3"/>
          <p:cNvSpPr/>
          <p:nvPr/>
        </p:nvSpPr>
        <p:spPr>
          <a:xfrm>
            <a:off x="45720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8" name="CustomShape 4"/>
          <p:cNvSpPr/>
          <p:nvPr/>
        </p:nvSpPr>
        <p:spPr>
          <a:xfrm>
            <a:off x="457200" y="1645920"/>
            <a:ext cx="261180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9" name="CustomShape 5"/>
          <p:cNvSpPr/>
          <p:nvPr/>
        </p:nvSpPr>
        <p:spPr>
          <a:xfrm>
            <a:off x="1432440" y="1874520"/>
            <a:ext cx="661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3b82f6"/>
                </a:solidFill>
                <a:latin typeface="Inter"/>
                <a:ea typeface="DejaVu Sans"/>
              </a:rPr>
              <a:t>Tier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0" name="CustomShape 6"/>
          <p:cNvSpPr/>
          <p:nvPr/>
        </p:nvSpPr>
        <p:spPr>
          <a:xfrm>
            <a:off x="640080" y="2286000"/>
            <a:ext cx="224604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YAML Frontmatter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1" name="CustomShape 7"/>
          <p:cNvSpPr/>
          <p:nvPr/>
        </p:nvSpPr>
        <p:spPr>
          <a:xfrm>
            <a:off x="640080" y="3108960"/>
            <a:ext cx="2246040" cy="63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Description loaded at session start - agent knows capabilities (~100 tokens)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2" name="CustomShape 8"/>
          <p:cNvSpPr/>
          <p:nvPr/>
        </p:nvSpPr>
        <p:spPr>
          <a:xfrm>
            <a:off x="334512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CustomShape 9"/>
          <p:cNvSpPr/>
          <p:nvPr/>
        </p:nvSpPr>
        <p:spPr>
          <a:xfrm>
            <a:off x="3345120" y="1645920"/>
            <a:ext cx="2611800" cy="89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CustomShape 10"/>
          <p:cNvSpPr/>
          <p:nvPr/>
        </p:nvSpPr>
        <p:spPr>
          <a:xfrm>
            <a:off x="4320360" y="1874520"/>
            <a:ext cx="661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60a5fa"/>
                </a:solidFill>
                <a:latin typeface="Inter"/>
                <a:ea typeface="DejaVu Sans"/>
              </a:rPr>
              <a:t>Tier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5" name="CustomShape 11"/>
          <p:cNvSpPr/>
          <p:nvPr/>
        </p:nvSpPr>
        <p:spPr>
          <a:xfrm>
            <a:off x="3528000" y="2286000"/>
            <a:ext cx="224604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SKILL.md Content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26" name="CustomShape 12"/>
          <p:cNvSpPr/>
          <p:nvPr/>
        </p:nvSpPr>
        <p:spPr>
          <a:xfrm>
            <a:off x="3528000" y="3108960"/>
            <a:ext cx="2246040" cy="63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Full instructions load only when skill invoked (~500-5k tokens)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7" name="CustomShape 13"/>
          <p:cNvSpPr/>
          <p:nvPr/>
        </p:nvSpPr>
        <p:spPr>
          <a:xfrm>
            <a:off x="623304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8" name="CustomShape 14"/>
          <p:cNvSpPr/>
          <p:nvPr/>
        </p:nvSpPr>
        <p:spPr>
          <a:xfrm>
            <a:off x="6233040" y="1645920"/>
            <a:ext cx="2611800" cy="89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CustomShape 15"/>
          <p:cNvSpPr/>
          <p:nvPr/>
        </p:nvSpPr>
        <p:spPr>
          <a:xfrm>
            <a:off x="7208280" y="1874520"/>
            <a:ext cx="661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ea5e9"/>
                </a:solidFill>
                <a:latin typeface="Inter"/>
                <a:ea typeface="DejaVu Sans"/>
              </a:rPr>
              <a:t>Tier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0" name="CustomShape 16"/>
          <p:cNvSpPr/>
          <p:nvPr/>
        </p:nvSpPr>
        <p:spPr>
          <a:xfrm>
            <a:off x="6415920" y="2286000"/>
            <a:ext cx="224604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Reference Docs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1" name="CustomShape 17"/>
          <p:cNvSpPr/>
          <p:nvPr/>
        </p:nvSpPr>
        <p:spPr>
          <a:xfrm>
            <a:off x="6415920" y="3108960"/>
            <a:ext cx="2246040" cy="63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Scripts and templates load on-demand - lazy loading (0 until needed)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2" name="CustomShape 18"/>
          <p:cNvSpPr/>
          <p:nvPr/>
        </p:nvSpPr>
        <p:spPr>
          <a:xfrm>
            <a:off x="912096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CustomShape 19"/>
          <p:cNvSpPr/>
          <p:nvPr/>
        </p:nvSpPr>
        <p:spPr>
          <a:xfrm>
            <a:off x="9120960" y="1645920"/>
            <a:ext cx="261180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4" name="CustomShape 20"/>
          <p:cNvSpPr/>
          <p:nvPr/>
        </p:nvSpPr>
        <p:spPr>
          <a:xfrm>
            <a:off x="10072440" y="1874520"/>
            <a:ext cx="70848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4ade80"/>
                </a:solidFill>
                <a:latin typeface="Inter"/>
                <a:ea typeface="DejaVu Sans"/>
              </a:rPr>
              <a:t>Result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5" name="CustomShape 21"/>
          <p:cNvSpPr/>
          <p:nvPr/>
        </p:nvSpPr>
        <p:spPr>
          <a:xfrm>
            <a:off x="9303840" y="2286000"/>
            <a:ext cx="224604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afafa"/>
                </a:solidFill>
                <a:latin typeface="Inter"/>
                <a:ea typeface="DejaVu Sans"/>
              </a:rPr>
              <a:t>Focused Context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6" name="CustomShape 22"/>
          <p:cNvSpPr/>
          <p:nvPr/>
        </p:nvSpPr>
        <p:spPr>
          <a:xfrm>
            <a:off x="9303840" y="3108960"/>
            <a:ext cx="22460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ccccc"/>
                </a:solidFill>
                <a:latin typeface="Inter"/>
                <a:ea typeface="DejaVu Sans"/>
              </a:rPr>
              <a:t>Maximum tokens for actual work, not instructions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2286000" y="1573560"/>
            <a:ext cx="7595280" cy="51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cccccc"/>
                </a:solidFill>
                <a:latin typeface="Inter"/>
                <a:ea typeface="DejaVu Sans"/>
              </a:rPr>
              <a:t>PACKAGED PROCESSES THAT DEFINE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8" name="CustomShape 2"/>
          <p:cNvSpPr/>
          <p:nvPr/>
        </p:nvSpPr>
        <p:spPr>
          <a:xfrm>
            <a:off x="2292120" y="2487960"/>
            <a:ext cx="7583400" cy="13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8000" spc="-1" strike="noStrike">
                <a:solidFill>
                  <a:srgbClr val="3b82f6"/>
                </a:solidFill>
                <a:latin typeface="Inter"/>
                <a:ea typeface="DejaVu Sans"/>
              </a:rPr>
              <a:t>WORKFLOWS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439" name="CustomShape 3"/>
          <p:cNvSpPr/>
          <p:nvPr/>
        </p:nvSpPr>
        <p:spPr>
          <a:xfrm>
            <a:off x="3646800" y="4133880"/>
            <a:ext cx="48736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Consolas"/>
                <a:ea typeface="DejaVu Sans"/>
              </a:rPr>
              <a:t>/plan  /implement  /validate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0" name="CustomShape 4"/>
          <p:cNvSpPr/>
          <p:nvPr/>
        </p:nvSpPr>
        <p:spPr>
          <a:xfrm>
            <a:off x="5018040" y="5414040"/>
            <a:ext cx="2131560" cy="71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2" name="CustomShape 2"/>
          <p:cNvSpPr/>
          <p:nvPr/>
        </p:nvSpPr>
        <p:spPr>
          <a:xfrm>
            <a:off x="3696480" y="457200"/>
            <a:ext cx="467532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The Rule of Three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43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5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Type something more than 3 times = make it a skill/command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46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Avoid the re-prompting tax on every conversation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48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9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Commands and skills encode your best practices automatically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50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1" name="CustomShape 11"/>
          <p:cNvSpPr/>
          <p:nvPr/>
        </p:nvSpPr>
        <p:spPr>
          <a:xfrm>
            <a:off x="914400" y="512064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Your AI layer grows with every workflow you capture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1048320" y="457200"/>
            <a:ext cx="1009332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Think From the Agent's Perspective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53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5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57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INPUT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8" name="CustomShape 7"/>
          <p:cNvSpPr/>
          <p:nvPr/>
        </p:nvSpPr>
        <p:spPr>
          <a:xfrm>
            <a:off x="1005840" y="420624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What does the agent need to SEE? Context, parameters, persona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59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0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1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3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PROCESS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4" name="CustomShape 13"/>
          <p:cNvSpPr/>
          <p:nvPr/>
        </p:nvSpPr>
        <p:spPr>
          <a:xfrm>
            <a:off x="4389120" y="457200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What should the agent DO? Step-by-step workflow, tools to use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5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8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9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OUTPUT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0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What should the agent SHARE? Code, analysis, structured docs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ustomShape 1"/>
          <p:cNvSpPr/>
          <p:nvPr/>
        </p:nvSpPr>
        <p:spPr>
          <a:xfrm>
            <a:off x="0" y="0"/>
            <a:ext cx="71280" cy="6856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2" name="CustomShape 2"/>
          <p:cNvSpPr/>
          <p:nvPr/>
        </p:nvSpPr>
        <p:spPr>
          <a:xfrm>
            <a:off x="1517760" y="457200"/>
            <a:ext cx="9033120" cy="63900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Exercise 3: Build a Skill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73" name="CustomShape 3"/>
          <p:cNvSpPr/>
          <p:nvPr/>
        </p:nvSpPr>
        <p:spPr>
          <a:xfrm>
            <a:off x="548640" y="1371600"/>
            <a:ext cx="2284920" cy="53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74" name="CustomShape 4"/>
          <p:cNvSpPr/>
          <p:nvPr/>
        </p:nvSpPr>
        <p:spPr>
          <a:xfrm>
            <a:off x="548640" y="1828800"/>
            <a:ext cx="10971720" cy="39204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Switch to the exercise-3 branch: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5" name="CustomShape 5"/>
          <p:cNvSpPr/>
          <p:nvPr/>
        </p:nvSpPr>
        <p:spPr>
          <a:xfrm>
            <a:off x="548640" y="256032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git checkout exercise-3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6" name="CustomShape 6"/>
          <p:cNvSpPr/>
          <p:nvPr/>
        </p:nvSpPr>
        <p:spPr>
          <a:xfrm>
            <a:off x="548640" y="32918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Create a skill for something you do daily or weekly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7" name="CustomShape 7"/>
          <p:cNvSpPr/>
          <p:nvPr/>
        </p:nvSpPr>
        <p:spPr>
          <a:xfrm>
            <a:off x="548640" y="37490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Examples: code review, commit messages, documentation, testing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8" name="CustomShape 8"/>
          <p:cNvSpPr/>
          <p:nvPr/>
        </p:nvSpPr>
        <p:spPr>
          <a:xfrm>
            <a:off x="548640" y="42062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Take inspiration from what we have in .github/prompts/ or .github/skills/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9" name="CustomShape 9"/>
          <p:cNvSpPr/>
          <p:nvPr/>
        </p:nvSpPr>
        <p:spPr>
          <a:xfrm>
            <a:off x="548640" y="46634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Make your own version that fits your workflow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0" name="CustomShape 10"/>
          <p:cNvSpPr/>
          <p:nvPr/>
        </p:nvSpPr>
        <p:spPr>
          <a:xfrm>
            <a:off x="548640" y="5394960"/>
            <a:ext cx="10971720" cy="91332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1" name="CustomShape 11"/>
          <p:cNvSpPr/>
          <p:nvPr/>
        </p:nvSpPr>
        <p:spPr>
          <a:xfrm>
            <a:off x="822960" y="5669280"/>
            <a:ext cx="1042308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Goal: Create a reusable prompt that automates part of your workflow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CustomShape 1"/>
          <p:cNvSpPr/>
          <p:nvPr/>
        </p:nvSpPr>
        <p:spPr>
          <a:xfrm>
            <a:off x="822960" y="914400"/>
            <a:ext cx="1222200" cy="313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0" spc="-1" strike="noStrike">
                <a:solidFill>
                  <a:srgbClr val="3b82f6"/>
                </a:solidFill>
                <a:latin typeface="Georgia"/>
                <a:ea typeface="DejaVu Sans"/>
              </a:rPr>
              <a:t>“</a:t>
            </a:r>
            <a:endParaRPr b="0" lang="en-US" sz="20000" spc="-1" strike="noStrike">
              <a:latin typeface="Arial"/>
            </a:endParaRPr>
          </a:p>
        </p:txBody>
      </p:sp>
      <p:sp>
        <p:nvSpPr>
          <p:cNvPr id="483" name="CustomShape 2"/>
          <p:cNvSpPr/>
          <p:nvPr/>
        </p:nvSpPr>
        <p:spPr>
          <a:xfrm>
            <a:off x="977760" y="2103120"/>
            <a:ext cx="108000" cy="2284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4" name="CustomShape 3"/>
          <p:cNvSpPr/>
          <p:nvPr/>
        </p:nvSpPr>
        <p:spPr>
          <a:xfrm>
            <a:off x="1709280" y="2531520"/>
            <a:ext cx="9599400" cy="130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Don't just fix the bug. Fix the system that allowed the bug.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85" name="CustomShape 4"/>
          <p:cNvSpPr/>
          <p:nvPr/>
        </p:nvSpPr>
        <p:spPr>
          <a:xfrm>
            <a:off x="4467600" y="4572000"/>
            <a:ext cx="353412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- System Evolution Philosophy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CustomShape 1"/>
          <p:cNvSpPr/>
          <p:nvPr/>
        </p:nvSpPr>
        <p:spPr>
          <a:xfrm>
            <a:off x="3203280" y="365760"/>
            <a:ext cx="578340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Evolving Your AI Layer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87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8" name="CustomShape 3"/>
          <p:cNvSpPr/>
          <p:nvPr/>
        </p:nvSpPr>
        <p:spPr>
          <a:xfrm>
            <a:off x="45720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9" name="CustomShape 4"/>
          <p:cNvSpPr/>
          <p:nvPr/>
        </p:nvSpPr>
        <p:spPr>
          <a:xfrm>
            <a:off x="457200" y="1645920"/>
            <a:ext cx="2611800" cy="8964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CustomShape 5"/>
          <p:cNvSpPr/>
          <p:nvPr/>
        </p:nvSpPr>
        <p:spPr>
          <a:xfrm>
            <a:off x="71244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87171"/>
                </a:solidFill>
                <a:latin typeface="Inter"/>
                <a:ea typeface="DejaVu Sans"/>
              </a:rPr>
              <a:t>01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1" name="CustomShape 6"/>
          <p:cNvSpPr/>
          <p:nvPr/>
        </p:nvSpPr>
        <p:spPr>
          <a:xfrm>
            <a:off x="64008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Bug Found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2" name="CustomShape 7"/>
          <p:cNvSpPr/>
          <p:nvPr/>
        </p:nvSpPr>
        <p:spPr>
          <a:xfrm>
            <a:off x="640080" y="3474720"/>
            <a:ext cx="2246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Identify the root cause - was it context, workflow, or architecture?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3" name="CustomShape 8"/>
          <p:cNvSpPr/>
          <p:nvPr/>
        </p:nvSpPr>
        <p:spPr>
          <a:xfrm>
            <a:off x="334512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4" name="CustomShape 9"/>
          <p:cNvSpPr/>
          <p:nvPr/>
        </p:nvSpPr>
        <p:spPr>
          <a:xfrm>
            <a:off x="3345120" y="1645920"/>
            <a:ext cx="261180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5" name="CustomShape 10"/>
          <p:cNvSpPr/>
          <p:nvPr/>
        </p:nvSpPr>
        <p:spPr>
          <a:xfrm>
            <a:off x="360036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3b82f6"/>
                </a:solidFill>
                <a:latin typeface="Inter"/>
                <a:ea typeface="DejaVu Sans"/>
              </a:rPr>
              <a:t>02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6" name="CustomShape 11"/>
          <p:cNvSpPr/>
          <p:nvPr/>
        </p:nvSpPr>
        <p:spPr>
          <a:xfrm>
            <a:off x="352800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Update Rules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7" name="CustomShape 12"/>
          <p:cNvSpPr/>
          <p:nvPr/>
        </p:nvSpPr>
        <p:spPr>
          <a:xfrm>
            <a:off x="3528000" y="3474720"/>
            <a:ext cx="224604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Add constraints to prevent recurrence in global rules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8" name="CustomShape 13"/>
          <p:cNvSpPr/>
          <p:nvPr/>
        </p:nvSpPr>
        <p:spPr>
          <a:xfrm>
            <a:off x="623304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9" name="CustomShape 14"/>
          <p:cNvSpPr/>
          <p:nvPr/>
        </p:nvSpPr>
        <p:spPr>
          <a:xfrm>
            <a:off x="6233040" y="1645920"/>
            <a:ext cx="2611800" cy="89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0" name="CustomShape 15"/>
          <p:cNvSpPr/>
          <p:nvPr/>
        </p:nvSpPr>
        <p:spPr>
          <a:xfrm>
            <a:off x="648828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60a5fa"/>
                </a:solidFill>
                <a:latin typeface="Inter"/>
                <a:ea typeface="DejaVu Sans"/>
              </a:rPr>
              <a:t>03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01" name="CustomShape 16"/>
          <p:cNvSpPr/>
          <p:nvPr/>
        </p:nvSpPr>
        <p:spPr>
          <a:xfrm>
            <a:off x="6415920" y="2468880"/>
            <a:ext cx="22460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Update/Add Skills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2" name="CustomShape 17"/>
          <p:cNvSpPr/>
          <p:nvPr/>
        </p:nvSpPr>
        <p:spPr>
          <a:xfrm>
            <a:off x="6415920" y="3474720"/>
            <a:ext cx="2246040" cy="72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Create a new workflow or improve existing ones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3" name="CustomShape 18"/>
          <p:cNvSpPr/>
          <p:nvPr/>
        </p:nvSpPr>
        <p:spPr>
          <a:xfrm>
            <a:off x="912096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CustomShape 19"/>
          <p:cNvSpPr/>
          <p:nvPr/>
        </p:nvSpPr>
        <p:spPr>
          <a:xfrm>
            <a:off x="9120960" y="1645920"/>
            <a:ext cx="261180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5" name="CustomShape 20"/>
          <p:cNvSpPr/>
          <p:nvPr/>
        </p:nvSpPr>
        <p:spPr>
          <a:xfrm>
            <a:off x="9376200" y="1920240"/>
            <a:ext cx="5850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4ade80"/>
                </a:solidFill>
                <a:latin typeface="Inter"/>
                <a:ea typeface="DejaVu Sans"/>
              </a:rPr>
              <a:t>04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06" name="CustomShape 21"/>
          <p:cNvSpPr/>
          <p:nvPr/>
        </p:nvSpPr>
        <p:spPr>
          <a:xfrm>
            <a:off x="9303840" y="25603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afafa"/>
                </a:solidFill>
                <a:latin typeface="Inter"/>
                <a:ea typeface="DejaVu Sans"/>
              </a:rPr>
              <a:t>Refine Context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7" name="CustomShape 22"/>
          <p:cNvSpPr/>
          <p:nvPr/>
        </p:nvSpPr>
        <p:spPr>
          <a:xfrm>
            <a:off x="9303840" y="3474720"/>
            <a:ext cx="22460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Improve on-demand context and skills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9" name="CustomShape 2"/>
          <p:cNvSpPr/>
          <p:nvPr/>
        </p:nvSpPr>
        <p:spPr>
          <a:xfrm>
            <a:off x="950040" y="2560320"/>
            <a:ext cx="2212560" cy="191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0" spc="-1" strike="noStrike">
                <a:solidFill>
                  <a:srgbClr val="3b82f6"/>
                </a:solidFill>
                <a:latin typeface="Inter"/>
                <a:ea typeface="DejaVu Sans"/>
              </a:rPr>
              <a:t>04</a:t>
            </a:r>
            <a:endParaRPr b="0" lang="en-US" sz="12000" spc="-1" strike="noStrike">
              <a:latin typeface="Arial"/>
            </a:endParaRPr>
          </a:p>
        </p:txBody>
      </p:sp>
      <p:sp>
        <p:nvSpPr>
          <p:cNvPr id="510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1" name="CustomShape 4"/>
          <p:cNvSpPr/>
          <p:nvPr/>
        </p:nvSpPr>
        <p:spPr>
          <a:xfrm>
            <a:off x="4754880" y="2194560"/>
            <a:ext cx="6856200" cy="143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AI-Native Architecture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12" name="CustomShape 5"/>
          <p:cNvSpPr/>
          <p:nvPr/>
        </p:nvSpPr>
        <p:spPr>
          <a:xfrm>
            <a:off x="4754880" y="384048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Optimizing codebases for agents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759600" y="1188720"/>
            <a:ext cx="1222200" cy="313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0" spc="-1" strike="noStrike">
                <a:solidFill>
                  <a:srgbClr val="3b82f6"/>
                </a:solidFill>
                <a:latin typeface="Georgia"/>
                <a:ea typeface="DejaVu Sans"/>
              </a:rPr>
              <a:t>“</a:t>
            </a:r>
            <a:endParaRPr b="0" lang="en-US" sz="20000" spc="-1" strike="noStrike"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914400" y="2377440"/>
            <a:ext cx="108000" cy="2284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5" name="CustomShape 3"/>
          <p:cNvSpPr/>
          <p:nvPr/>
        </p:nvSpPr>
        <p:spPr>
          <a:xfrm>
            <a:off x="1555200" y="2590560"/>
            <a:ext cx="959940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Establish the foundation of your project first, then building everything is much more efficient and reliable.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2922840" y="365760"/>
            <a:ext cx="63442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The 6 Foundation Layers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8" name="CustomShape 3"/>
          <p:cNvSpPr/>
          <p:nvPr/>
        </p:nvSpPr>
        <p:spPr>
          <a:xfrm>
            <a:off x="457200" y="164592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19" name="CustomShape 4"/>
          <p:cNvSpPr/>
          <p:nvPr/>
        </p:nvSpPr>
        <p:spPr>
          <a:xfrm>
            <a:off x="457200" y="1645920"/>
            <a:ext cx="3574440" cy="71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0" name="CustomShape 5"/>
          <p:cNvSpPr/>
          <p:nvPr/>
        </p:nvSpPr>
        <p:spPr>
          <a:xfrm>
            <a:off x="671040" y="182880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1" name="CustomShape 6"/>
          <p:cNvSpPr/>
          <p:nvPr/>
        </p:nvSpPr>
        <p:spPr>
          <a:xfrm>
            <a:off x="640080" y="228600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Testing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22" name="CustomShape 7"/>
          <p:cNvSpPr/>
          <p:nvPr/>
        </p:nvSpPr>
        <p:spPr>
          <a:xfrm>
            <a:off x="640080" y="283464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Ruff, pytest, Mypy + Pyright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3" name="CustomShape 8"/>
          <p:cNvSpPr/>
          <p:nvPr/>
        </p:nvSpPr>
        <p:spPr>
          <a:xfrm>
            <a:off x="4307760" y="164592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4" name="CustomShape 9"/>
          <p:cNvSpPr/>
          <p:nvPr/>
        </p:nvSpPr>
        <p:spPr>
          <a:xfrm>
            <a:off x="4307760" y="1645920"/>
            <a:ext cx="3574440" cy="71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5" name="CustomShape 10"/>
          <p:cNvSpPr/>
          <p:nvPr/>
        </p:nvSpPr>
        <p:spPr>
          <a:xfrm>
            <a:off x="4521600" y="182880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6" name="CustomShape 11"/>
          <p:cNvSpPr/>
          <p:nvPr/>
        </p:nvSpPr>
        <p:spPr>
          <a:xfrm>
            <a:off x="4490640" y="228600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Logging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27" name="CustomShape 12"/>
          <p:cNvSpPr/>
          <p:nvPr/>
        </p:nvSpPr>
        <p:spPr>
          <a:xfrm>
            <a:off x="4490640" y="283464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structlog with JSON output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28" name="CustomShape 13"/>
          <p:cNvSpPr/>
          <p:nvPr/>
        </p:nvSpPr>
        <p:spPr>
          <a:xfrm>
            <a:off x="8158320" y="164592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29" name="CustomShape 14"/>
          <p:cNvSpPr/>
          <p:nvPr/>
        </p:nvSpPr>
        <p:spPr>
          <a:xfrm>
            <a:off x="8158320" y="1645920"/>
            <a:ext cx="3574440" cy="712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0" name="CustomShape 15"/>
          <p:cNvSpPr/>
          <p:nvPr/>
        </p:nvSpPr>
        <p:spPr>
          <a:xfrm>
            <a:off x="8372160" y="182880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ea5e9"/>
                </a:solidFill>
                <a:latin typeface="Inter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1" name="CustomShape 16"/>
          <p:cNvSpPr/>
          <p:nvPr/>
        </p:nvSpPr>
        <p:spPr>
          <a:xfrm>
            <a:off x="8341200" y="228600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Infra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32" name="CustomShape 17"/>
          <p:cNvSpPr/>
          <p:nvPr/>
        </p:nvSpPr>
        <p:spPr>
          <a:xfrm>
            <a:off x="8341200" y="283464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FastAPI with uvicorn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3" name="CustomShape 18"/>
          <p:cNvSpPr/>
          <p:nvPr/>
        </p:nvSpPr>
        <p:spPr>
          <a:xfrm>
            <a:off x="457200" y="411480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4" name="CustomShape 19"/>
          <p:cNvSpPr/>
          <p:nvPr/>
        </p:nvSpPr>
        <p:spPr>
          <a:xfrm>
            <a:off x="457200" y="4114800"/>
            <a:ext cx="3574440" cy="71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5" name="CustomShape 20"/>
          <p:cNvSpPr/>
          <p:nvPr/>
        </p:nvSpPr>
        <p:spPr>
          <a:xfrm>
            <a:off x="671040" y="429768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04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6" name="CustomShape 21"/>
          <p:cNvSpPr/>
          <p:nvPr/>
        </p:nvSpPr>
        <p:spPr>
          <a:xfrm>
            <a:off x="640080" y="475488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Database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37" name="CustomShape 22"/>
          <p:cNvSpPr/>
          <p:nvPr/>
        </p:nvSpPr>
        <p:spPr>
          <a:xfrm>
            <a:off x="640080" y="530352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SQLAlchemy 2.0 + Alembic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8" name="CustomShape 23"/>
          <p:cNvSpPr/>
          <p:nvPr/>
        </p:nvSpPr>
        <p:spPr>
          <a:xfrm>
            <a:off x="4307760" y="411480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39" name="CustomShape 24"/>
          <p:cNvSpPr/>
          <p:nvPr/>
        </p:nvSpPr>
        <p:spPr>
          <a:xfrm>
            <a:off x="4307760" y="4114800"/>
            <a:ext cx="3574440" cy="7128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40" name="CustomShape 25"/>
          <p:cNvSpPr/>
          <p:nvPr/>
        </p:nvSpPr>
        <p:spPr>
          <a:xfrm>
            <a:off x="4521600" y="429768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60a5fa"/>
                </a:solidFill>
                <a:latin typeface="Inter"/>
                <a:ea typeface="DejaVu Sans"/>
              </a:rPr>
              <a:t>05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1" name="CustomShape 26"/>
          <p:cNvSpPr/>
          <p:nvPr/>
        </p:nvSpPr>
        <p:spPr>
          <a:xfrm>
            <a:off x="4490640" y="475488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Health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42" name="CustomShape 27"/>
          <p:cNvSpPr/>
          <p:nvPr/>
        </p:nvSpPr>
        <p:spPr>
          <a:xfrm>
            <a:off x="4490640" y="530352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/health endpoint ready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43" name="CustomShape 28"/>
          <p:cNvSpPr/>
          <p:nvPr/>
        </p:nvSpPr>
        <p:spPr>
          <a:xfrm>
            <a:off x="8158320" y="4114800"/>
            <a:ext cx="3574440" cy="219276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44" name="CustomShape 29"/>
          <p:cNvSpPr/>
          <p:nvPr/>
        </p:nvSpPr>
        <p:spPr>
          <a:xfrm>
            <a:off x="8158320" y="4114800"/>
            <a:ext cx="3574440" cy="7128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45" name="CustomShape 30"/>
          <p:cNvSpPr/>
          <p:nvPr/>
        </p:nvSpPr>
        <p:spPr>
          <a:xfrm>
            <a:off x="8372160" y="4297680"/>
            <a:ext cx="48456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ea5e9"/>
                </a:solidFill>
                <a:latin typeface="Inter"/>
                <a:ea typeface="DejaVu Sans"/>
              </a:rPr>
              <a:t>06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6" name="CustomShape 31"/>
          <p:cNvSpPr/>
          <p:nvPr/>
        </p:nvSpPr>
        <p:spPr>
          <a:xfrm>
            <a:off x="8341200" y="4754880"/>
            <a:ext cx="32086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afafa"/>
                </a:solidFill>
                <a:latin typeface="Inter"/>
                <a:ea typeface="DejaVu Sans"/>
              </a:rPr>
              <a:t>Patterns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47" name="CustomShape 32"/>
          <p:cNvSpPr/>
          <p:nvPr/>
        </p:nvSpPr>
        <p:spPr>
          <a:xfrm>
            <a:off x="8341200" y="5303520"/>
            <a:ext cx="32086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Pydantic v2 validation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9" name="CustomShape 2"/>
          <p:cNvSpPr/>
          <p:nvPr/>
        </p:nvSpPr>
        <p:spPr>
          <a:xfrm>
            <a:off x="1897920" y="457200"/>
            <a:ext cx="82720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The Compounding Quality Effect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50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1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2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Tests validate logging works correctly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53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4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Logging enables debugging in any environment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55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6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Infrastructure supports database operations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57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8" name="CustomShape 11"/>
          <p:cNvSpPr/>
          <p:nvPr/>
        </p:nvSpPr>
        <p:spPr>
          <a:xfrm>
            <a:off x="914400" y="512064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Everything builds on the foundation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0" name="CustomShape 2"/>
          <p:cNvSpPr/>
          <p:nvPr/>
        </p:nvSpPr>
        <p:spPr>
          <a:xfrm>
            <a:off x="520200" y="2560320"/>
            <a:ext cx="3072240" cy="161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0" spc="-1" strike="noStrike">
                <a:solidFill>
                  <a:srgbClr val="3b82f6"/>
                </a:solidFill>
                <a:latin typeface="Inter"/>
                <a:ea typeface="DejaVu Sans"/>
              </a:rPr>
              <a:t>VSA</a:t>
            </a:r>
            <a:endParaRPr b="0" lang="en-US" sz="10000" spc="-1" strike="noStrike">
              <a:latin typeface="Arial"/>
            </a:endParaRPr>
          </a:p>
        </p:txBody>
      </p:sp>
      <p:sp>
        <p:nvSpPr>
          <p:cNvPr id="561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2" name="CustomShape 4"/>
          <p:cNvSpPr/>
          <p:nvPr/>
        </p:nvSpPr>
        <p:spPr>
          <a:xfrm>
            <a:off x="4754880" y="2194560"/>
            <a:ext cx="6856200" cy="143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Vertical Slice Architecture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3" name="CustomShape 5"/>
          <p:cNvSpPr/>
          <p:nvPr/>
        </p:nvSpPr>
        <p:spPr>
          <a:xfrm>
            <a:off x="4754880" y="365760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Why VSA works for Agentic Engineering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CustomShape 1"/>
          <p:cNvSpPr/>
          <p:nvPr/>
        </p:nvSpPr>
        <p:spPr>
          <a:xfrm>
            <a:off x="3303720" y="365760"/>
            <a:ext cx="558216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Horizontal vs Vertical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65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6" name="CustomShape 3"/>
          <p:cNvSpPr/>
          <p:nvPr/>
        </p:nvSpPr>
        <p:spPr>
          <a:xfrm>
            <a:off x="4572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7" name="CustomShape 4"/>
          <p:cNvSpPr/>
          <p:nvPr/>
        </p:nvSpPr>
        <p:spPr>
          <a:xfrm>
            <a:off x="1412640" y="1920240"/>
            <a:ext cx="33908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Traditional (Horizontal)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68" name="CustomShape 5"/>
          <p:cNvSpPr/>
          <p:nvPr/>
        </p:nvSpPr>
        <p:spPr>
          <a:xfrm>
            <a:off x="7315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Cross-cutting concerns everywhere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9" name="CustomShape 6"/>
          <p:cNvSpPr/>
          <p:nvPr/>
        </p:nvSpPr>
        <p:spPr>
          <a:xfrm>
            <a:off x="7315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Changes ripple across layers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0" name="CustomShape 7"/>
          <p:cNvSpPr/>
          <p:nvPr/>
        </p:nvSpPr>
        <p:spPr>
          <a:xfrm>
            <a:off x="7315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Hard to reason about impact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1" name="CustomShape 8"/>
          <p:cNvSpPr/>
          <p:nvPr/>
        </p:nvSpPr>
        <p:spPr>
          <a:xfrm>
            <a:off x="7315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Context spread thin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2" name="CustomShape 9"/>
          <p:cNvSpPr/>
          <p:nvPr/>
        </p:nvSpPr>
        <p:spPr>
          <a:xfrm>
            <a:off x="6400800" y="1645920"/>
            <a:ext cx="5301720" cy="45702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3" name="CustomShape 10"/>
          <p:cNvSpPr/>
          <p:nvPr/>
        </p:nvSpPr>
        <p:spPr>
          <a:xfrm>
            <a:off x="7979400" y="1920240"/>
            <a:ext cx="21441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3b82f6"/>
                </a:solidFill>
                <a:latin typeface="Inter"/>
                <a:ea typeface="DejaVu Sans"/>
              </a:rPr>
              <a:t>VSA (Vertical)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74" name="CustomShape 11"/>
          <p:cNvSpPr/>
          <p:nvPr/>
        </p:nvSpPr>
        <p:spPr>
          <a:xfrm>
            <a:off x="6675120" y="256032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Feature isolation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5" name="CustomShape 12"/>
          <p:cNvSpPr/>
          <p:nvPr/>
        </p:nvSpPr>
        <p:spPr>
          <a:xfrm>
            <a:off x="6675120" y="338328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Changes contained to slice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6" name="CustomShape 13"/>
          <p:cNvSpPr/>
          <p:nvPr/>
        </p:nvSpPr>
        <p:spPr>
          <a:xfrm>
            <a:off x="6675120" y="420624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Clear boundaries for Agents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77" name="CustomShape 14"/>
          <p:cNvSpPr/>
          <p:nvPr/>
        </p:nvSpPr>
        <p:spPr>
          <a:xfrm>
            <a:off x="6675120" y="5029200"/>
            <a:ext cx="475308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Focused context per feature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CustomShape 1"/>
          <p:cNvSpPr/>
          <p:nvPr/>
        </p:nvSpPr>
        <p:spPr>
          <a:xfrm>
            <a:off x="2858040" y="457200"/>
            <a:ext cx="647388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Why VSA is AI-Friendly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79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0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1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2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83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Isolation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84" name="CustomShape 7"/>
          <p:cNvSpPr/>
          <p:nvPr/>
        </p:nvSpPr>
        <p:spPr>
          <a:xfrm>
            <a:off x="960840" y="420624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Each feature is self-contained with clear boundaries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85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6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7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8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89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Context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90" name="CustomShape 13"/>
          <p:cNvSpPr/>
          <p:nvPr/>
        </p:nvSpPr>
        <p:spPr>
          <a:xfrm>
            <a:off x="4389120" y="457200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All relevant files in one place for the agent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91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2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3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4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95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Autonomy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96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Work on slices independently without conflicts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CustomShape 1"/>
          <p:cNvSpPr/>
          <p:nvPr/>
        </p:nvSpPr>
        <p:spPr>
          <a:xfrm>
            <a:off x="0" y="0"/>
            <a:ext cx="4113000" cy="6856200"/>
          </a:xfrm>
          <a:prstGeom prst="rect">
            <a:avLst/>
          </a:prstGeom>
          <a:solidFill>
            <a:srgbClr val="080a13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8" name="CustomShape 2"/>
          <p:cNvSpPr/>
          <p:nvPr/>
        </p:nvSpPr>
        <p:spPr>
          <a:xfrm>
            <a:off x="709200" y="2560320"/>
            <a:ext cx="2694240" cy="100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6000" spc="-1" strike="noStrike">
                <a:solidFill>
                  <a:srgbClr val="3b82f6"/>
                </a:solidFill>
                <a:latin typeface="Consolas"/>
                <a:ea typeface="DejaVu Sans"/>
              </a:rPr>
              <a:t>/prime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599" name="CustomShape 3"/>
          <p:cNvSpPr/>
          <p:nvPr/>
        </p:nvSpPr>
        <p:spPr>
          <a:xfrm>
            <a:off x="4114800" y="1371600"/>
            <a:ext cx="71280" cy="4113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0" name="CustomShape 4"/>
          <p:cNvSpPr/>
          <p:nvPr/>
        </p:nvSpPr>
        <p:spPr>
          <a:xfrm>
            <a:off x="4754880" y="2194560"/>
            <a:ext cx="68562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fafafa"/>
                </a:solidFill>
                <a:latin typeface="Inter"/>
                <a:ea typeface="DejaVu Sans"/>
              </a:rPr>
              <a:t>Focused Priming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1" name="CustomShape 5"/>
          <p:cNvSpPr/>
          <p:nvPr/>
        </p:nvSpPr>
        <p:spPr>
          <a:xfrm>
            <a:off x="4754880" y="3657600"/>
            <a:ext cx="6856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cccccc"/>
                </a:solidFill>
                <a:latin typeface="Inter"/>
                <a:ea typeface="DejaVu Sans"/>
              </a:rPr>
              <a:t>Guiding the agent to specific parts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CustomShape 1"/>
          <p:cNvSpPr/>
          <p:nvPr/>
        </p:nvSpPr>
        <p:spPr>
          <a:xfrm>
            <a:off x="2742120" y="365760"/>
            <a:ext cx="670536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Multiple Prime Commands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03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4" name="CustomShape 3"/>
          <p:cNvSpPr/>
          <p:nvPr/>
        </p:nvSpPr>
        <p:spPr>
          <a:xfrm>
            <a:off x="45720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5" name="CustomShape 4"/>
          <p:cNvSpPr/>
          <p:nvPr/>
        </p:nvSpPr>
        <p:spPr>
          <a:xfrm>
            <a:off x="457200" y="1645920"/>
            <a:ext cx="2611800" cy="89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6" name="CustomShape 5"/>
          <p:cNvSpPr/>
          <p:nvPr/>
        </p:nvSpPr>
        <p:spPr>
          <a:xfrm>
            <a:off x="640080" y="21031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3b82f6"/>
                </a:solidFill>
                <a:latin typeface="Consolas"/>
                <a:ea typeface="DejaVu Sans"/>
              </a:rPr>
              <a:t>/prime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7" name="CustomShape 6"/>
          <p:cNvSpPr/>
          <p:nvPr/>
        </p:nvSpPr>
        <p:spPr>
          <a:xfrm>
            <a:off x="640080" y="3108960"/>
            <a:ext cx="2246040" cy="115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Full codebase understanding - core architecture (doesn’t work great for larger codebases)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08" name="CustomShape 7"/>
          <p:cNvSpPr/>
          <p:nvPr/>
        </p:nvSpPr>
        <p:spPr>
          <a:xfrm>
            <a:off x="334512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9" name="CustomShape 8"/>
          <p:cNvSpPr/>
          <p:nvPr/>
        </p:nvSpPr>
        <p:spPr>
          <a:xfrm>
            <a:off x="3345120" y="1645920"/>
            <a:ext cx="2611800" cy="89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0" name="CustomShape 9"/>
          <p:cNvSpPr/>
          <p:nvPr/>
        </p:nvSpPr>
        <p:spPr>
          <a:xfrm>
            <a:off x="3528000" y="21031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/prime-frontend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1" name="CustomShape 10"/>
          <p:cNvSpPr/>
          <p:nvPr/>
        </p:nvSpPr>
        <p:spPr>
          <a:xfrm>
            <a:off x="3528000" y="3108960"/>
            <a:ext cx="22460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Frontend components and styling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2" name="CustomShape 11"/>
          <p:cNvSpPr/>
          <p:nvPr/>
        </p:nvSpPr>
        <p:spPr>
          <a:xfrm>
            <a:off x="623304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3" name="CustomShape 12"/>
          <p:cNvSpPr/>
          <p:nvPr/>
        </p:nvSpPr>
        <p:spPr>
          <a:xfrm>
            <a:off x="6233040" y="1645920"/>
            <a:ext cx="2611800" cy="89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4" name="CustomShape 13"/>
          <p:cNvSpPr/>
          <p:nvPr/>
        </p:nvSpPr>
        <p:spPr>
          <a:xfrm>
            <a:off x="6415920" y="21031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ea5e9"/>
                </a:solidFill>
                <a:latin typeface="Consolas"/>
                <a:ea typeface="DejaVu Sans"/>
              </a:rPr>
              <a:t>/prime-backend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5" name="CustomShape 14"/>
          <p:cNvSpPr/>
          <p:nvPr/>
        </p:nvSpPr>
        <p:spPr>
          <a:xfrm>
            <a:off x="6415920" y="3108960"/>
            <a:ext cx="22460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API routes and backend logic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6" name="CustomShape 15"/>
          <p:cNvSpPr/>
          <p:nvPr/>
        </p:nvSpPr>
        <p:spPr>
          <a:xfrm>
            <a:off x="9120960" y="1645920"/>
            <a:ext cx="2611800" cy="438732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7" name="CustomShape 16"/>
          <p:cNvSpPr/>
          <p:nvPr/>
        </p:nvSpPr>
        <p:spPr>
          <a:xfrm>
            <a:off x="9120960" y="1645920"/>
            <a:ext cx="2611800" cy="89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8" name="CustomShape 17"/>
          <p:cNvSpPr/>
          <p:nvPr/>
        </p:nvSpPr>
        <p:spPr>
          <a:xfrm>
            <a:off x="9303840" y="2103120"/>
            <a:ext cx="224604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4ade80"/>
                </a:solidFill>
                <a:latin typeface="Consolas"/>
                <a:ea typeface="DejaVu Sans"/>
              </a:rPr>
              <a:t>/prime-db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9" name="CustomShape 18"/>
          <p:cNvSpPr/>
          <p:nvPr/>
        </p:nvSpPr>
        <p:spPr>
          <a:xfrm>
            <a:off x="9303840" y="3108960"/>
            <a:ext cx="224604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cccccc"/>
                </a:solidFill>
                <a:latin typeface="Inter"/>
                <a:ea typeface="DejaVu Sans"/>
              </a:rPr>
              <a:t>Database schema and queries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CustomShape 1"/>
          <p:cNvSpPr/>
          <p:nvPr/>
        </p:nvSpPr>
        <p:spPr>
          <a:xfrm>
            <a:off x="1641600" y="365760"/>
            <a:ext cx="89074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Subagent Orchestration Strategies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21" name="CustomShape 2"/>
          <p:cNvSpPr/>
          <p:nvPr/>
        </p:nvSpPr>
        <p:spPr>
          <a:xfrm>
            <a:off x="457200" y="1234440"/>
            <a:ext cx="2284200" cy="52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2" name="CustomShape 3"/>
          <p:cNvSpPr/>
          <p:nvPr/>
        </p:nvSpPr>
        <p:spPr>
          <a:xfrm>
            <a:off x="4572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3" name="CustomShape 4"/>
          <p:cNvSpPr/>
          <p:nvPr/>
        </p:nvSpPr>
        <p:spPr>
          <a:xfrm>
            <a:off x="1773000" y="1920240"/>
            <a:ext cx="26697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4ade80"/>
                </a:solidFill>
                <a:latin typeface="Inter"/>
                <a:ea typeface="DejaVu Sans"/>
              </a:rPr>
              <a:t>Best for Research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24" name="CustomShape 5"/>
          <p:cNvSpPr/>
          <p:nvPr/>
        </p:nvSpPr>
        <p:spPr>
          <a:xfrm>
            <a:off x="731520" y="25603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Research can consume many tokens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5" name="CustomShape 6"/>
          <p:cNvSpPr/>
          <p:nvPr/>
        </p:nvSpPr>
        <p:spPr>
          <a:xfrm>
            <a:off x="731520" y="32461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Summary is all you need back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6" name="CustomShape 7"/>
          <p:cNvSpPr/>
          <p:nvPr/>
        </p:nvSpPr>
        <p:spPr>
          <a:xfrm>
            <a:off x="731520" y="39319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Context isolation prevents pollution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7" name="CustomShape 8"/>
          <p:cNvSpPr/>
          <p:nvPr/>
        </p:nvSpPr>
        <p:spPr>
          <a:xfrm>
            <a:off x="731520" y="46177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Parallel research is safe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8" name="CustomShape 9"/>
          <p:cNvSpPr/>
          <p:nvPr/>
        </p:nvSpPr>
        <p:spPr>
          <a:xfrm>
            <a:off x="731520" y="53035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Delegate to specialist subagents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9" name="CustomShape 10"/>
          <p:cNvSpPr/>
          <p:nvPr/>
        </p:nvSpPr>
        <p:spPr>
          <a:xfrm>
            <a:off x="6400800" y="1645920"/>
            <a:ext cx="5301720" cy="47530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0" name="CustomShape 11"/>
          <p:cNvSpPr/>
          <p:nvPr/>
        </p:nvSpPr>
        <p:spPr>
          <a:xfrm>
            <a:off x="7058880" y="1920240"/>
            <a:ext cx="39852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87171"/>
                </a:solidFill>
                <a:latin typeface="Inter"/>
                <a:ea typeface="DejaVu Sans"/>
              </a:rPr>
              <a:t>Caution for Implementation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31" name="CustomShape 12"/>
          <p:cNvSpPr/>
          <p:nvPr/>
        </p:nvSpPr>
        <p:spPr>
          <a:xfrm>
            <a:off x="6675120" y="25603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Implementation is high-risk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2" name="CustomShape 13"/>
          <p:cNvSpPr/>
          <p:nvPr/>
        </p:nvSpPr>
        <p:spPr>
          <a:xfrm>
            <a:off x="6675120" y="32461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Collision opportunities increase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3" name="CustomShape 14"/>
          <p:cNvSpPr/>
          <p:nvPr/>
        </p:nvSpPr>
        <p:spPr>
          <a:xfrm>
            <a:off x="6675120" y="39319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Main agent needs full file context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4" name="CustomShape 15"/>
          <p:cNvSpPr/>
          <p:nvPr/>
        </p:nvSpPr>
        <p:spPr>
          <a:xfrm>
            <a:off x="6675120" y="46177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Tests require understanding impact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5" name="CustomShape 16"/>
          <p:cNvSpPr/>
          <p:nvPr/>
        </p:nvSpPr>
        <p:spPr>
          <a:xfrm>
            <a:off x="6675120" y="5303520"/>
            <a:ext cx="475308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cccccc"/>
                </a:solidFill>
                <a:latin typeface="Inter"/>
                <a:ea typeface="DejaVu Sans"/>
              </a:rPr>
              <a:t>Keep implementation in main agent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7" name="CustomShape 2"/>
          <p:cNvSpPr/>
          <p:nvPr/>
        </p:nvSpPr>
        <p:spPr>
          <a:xfrm>
            <a:off x="2299680" y="457200"/>
            <a:ext cx="746892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Component Sizing Guidelines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38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9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0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It's about coupling, not lines of code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41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2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Can you work on it in isolation?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43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4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Does the agent have clear boundaries?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45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6" name="CustomShape 11"/>
          <p:cNvSpPr/>
          <p:nvPr/>
        </p:nvSpPr>
        <p:spPr>
          <a:xfrm>
            <a:off x="914400" y="512064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Smaller, focused components = better AI results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CustomShape 1"/>
          <p:cNvSpPr/>
          <p:nvPr/>
        </p:nvSpPr>
        <p:spPr>
          <a:xfrm>
            <a:off x="3839400" y="457200"/>
            <a:ext cx="4510800" cy="69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afafa"/>
                </a:solidFill>
                <a:latin typeface="Inter"/>
                <a:ea typeface="DejaVu Sans"/>
              </a:rPr>
              <a:t>Key Takeaways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48" name="CustomShape 2"/>
          <p:cNvSpPr/>
          <p:nvPr/>
        </p:nvSpPr>
        <p:spPr>
          <a:xfrm>
            <a:off x="868680" y="19659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9" name="CustomShape 3"/>
          <p:cNvSpPr/>
          <p:nvPr/>
        </p:nvSpPr>
        <p:spPr>
          <a:xfrm>
            <a:off x="731520" y="182880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0" name="CustomShape 4"/>
          <p:cNvSpPr/>
          <p:nvPr/>
        </p:nvSpPr>
        <p:spPr>
          <a:xfrm>
            <a:off x="1005840" y="2103120"/>
            <a:ext cx="72972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1" name="CustomShape 5"/>
          <p:cNvSpPr/>
          <p:nvPr/>
        </p:nvSpPr>
        <p:spPr>
          <a:xfrm>
            <a:off x="1100880" y="237744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3b82f6"/>
                </a:solidFill>
                <a:latin typeface="Inter"/>
                <a:ea typeface="DejaVu Sans"/>
              </a:rPr>
              <a:t>01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52" name="CustomShape 6"/>
          <p:cNvSpPr/>
          <p:nvPr/>
        </p:nvSpPr>
        <p:spPr>
          <a:xfrm>
            <a:off x="1005840" y="320040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Build Your AI Layer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53" name="CustomShape 7"/>
          <p:cNvSpPr/>
          <p:nvPr/>
        </p:nvSpPr>
        <p:spPr>
          <a:xfrm>
            <a:off x="1005840" y="420624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Rules, on-demand context, commands, and skills compound over time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4" name="CustomShape 8"/>
          <p:cNvSpPr/>
          <p:nvPr/>
        </p:nvSpPr>
        <p:spPr>
          <a:xfrm>
            <a:off x="4251960" y="23317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5" name="CustomShape 9"/>
          <p:cNvSpPr/>
          <p:nvPr/>
        </p:nvSpPr>
        <p:spPr>
          <a:xfrm>
            <a:off x="4114800" y="219456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6" name="CustomShape 10"/>
          <p:cNvSpPr/>
          <p:nvPr/>
        </p:nvSpPr>
        <p:spPr>
          <a:xfrm>
            <a:off x="4389120" y="2468880"/>
            <a:ext cx="729720" cy="108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7" name="CustomShape 11"/>
          <p:cNvSpPr/>
          <p:nvPr/>
        </p:nvSpPr>
        <p:spPr>
          <a:xfrm>
            <a:off x="4484160" y="274320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60a5fa"/>
                </a:solidFill>
                <a:latin typeface="Inter"/>
                <a:ea typeface="DejaVu Sans"/>
              </a:rPr>
              <a:t>02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58" name="CustomShape 12"/>
          <p:cNvSpPr/>
          <p:nvPr/>
        </p:nvSpPr>
        <p:spPr>
          <a:xfrm>
            <a:off x="4389120" y="356616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PRD Then PIV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59" name="CustomShape 13"/>
          <p:cNvSpPr/>
          <p:nvPr/>
        </p:nvSpPr>
        <p:spPr>
          <a:xfrm>
            <a:off x="4389120" y="4572000"/>
            <a:ext cx="329004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Scope the work first, then iterate with Plan-Implement-Validate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60" name="CustomShape 14"/>
          <p:cNvSpPr/>
          <p:nvPr/>
        </p:nvSpPr>
        <p:spPr>
          <a:xfrm>
            <a:off x="7635240" y="178308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11111b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1" name="CustomShape 15"/>
          <p:cNvSpPr/>
          <p:nvPr/>
        </p:nvSpPr>
        <p:spPr>
          <a:xfrm>
            <a:off x="7498080" y="1645920"/>
            <a:ext cx="3838680" cy="365580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2" name="CustomShape 16"/>
          <p:cNvSpPr/>
          <p:nvPr/>
        </p:nvSpPr>
        <p:spPr>
          <a:xfrm>
            <a:off x="7772400" y="1920240"/>
            <a:ext cx="729720" cy="10800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3" name="CustomShape 17"/>
          <p:cNvSpPr/>
          <p:nvPr/>
        </p:nvSpPr>
        <p:spPr>
          <a:xfrm>
            <a:off x="7867440" y="2194560"/>
            <a:ext cx="72216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4ade80"/>
                </a:solidFill>
                <a:latin typeface="Inter"/>
                <a:ea typeface="DejaVu Sans"/>
              </a:rPr>
              <a:t>03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64" name="CustomShape 18"/>
          <p:cNvSpPr/>
          <p:nvPr/>
        </p:nvSpPr>
        <p:spPr>
          <a:xfrm>
            <a:off x="7772400" y="3017520"/>
            <a:ext cx="329004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Evolve the System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65" name="CustomShape 19"/>
          <p:cNvSpPr/>
          <p:nvPr/>
        </p:nvSpPr>
        <p:spPr>
          <a:xfrm>
            <a:off x="7772400" y="4023360"/>
            <a:ext cx="3290040" cy="57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cccccc"/>
                </a:solidFill>
                <a:latin typeface="Inter"/>
                <a:ea typeface="DejaVu Sans"/>
              </a:rPr>
              <a:t>Every bug is an opportunity to improve your AI layer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CustomShape 1"/>
          <p:cNvSpPr/>
          <p:nvPr/>
        </p:nvSpPr>
        <p:spPr>
          <a:xfrm>
            <a:off x="0" y="0"/>
            <a:ext cx="71280" cy="6856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67" name="CustomShape 2"/>
          <p:cNvSpPr/>
          <p:nvPr/>
        </p:nvSpPr>
        <p:spPr>
          <a:xfrm>
            <a:off x="1517760" y="457200"/>
            <a:ext cx="9033120" cy="63900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Exercise 4: Build on an AI-Optimized Codebase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68" name="CustomShape 3"/>
          <p:cNvSpPr/>
          <p:nvPr/>
        </p:nvSpPr>
        <p:spPr>
          <a:xfrm>
            <a:off x="548640" y="1371600"/>
            <a:ext cx="2284920" cy="536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69" name="CustomShape 4"/>
          <p:cNvSpPr/>
          <p:nvPr/>
        </p:nvSpPr>
        <p:spPr>
          <a:xfrm>
            <a:off x="548640" y="1828800"/>
            <a:ext cx="10971720" cy="39204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afafa"/>
                </a:solidFill>
                <a:latin typeface="Inter"/>
                <a:ea typeface="DejaVu Sans"/>
              </a:rPr>
              <a:t>Clone the AI-optimized starter and build something: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70" name="CustomShape 5"/>
          <p:cNvSpPr/>
          <p:nvPr/>
        </p:nvSpPr>
        <p:spPr>
          <a:xfrm>
            <a:off x="548640" y="256032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git clone https://github.com/dynamous-business/python-ai-optimized-codebase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1" name="CustomShape 6"/>
          <p:cNvSpPr/>
          <p:nvPr/>
        </p:nvSpPr>
        <p:spPr>
          <a:xfrm>
            <a:off x="548640" y="310896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60a5fa"/>
                </a:solidFill>
                <a:latin typeface="Consolas"/>
                <a:ea typeface="DejaVu Sans"/>
              </a:rPr>
              <a:t>cd python-ai-optimized-codebase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2" name="CustomShape 7"/>
          <p:cNvSpPr/>
          <p:nvPr/>
        </p:nvSpPr>
        <p:spPr>
          <a:xfrm>
            <a:off x="549000" y="37490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Create a PRD for an application you want to build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3" name="CustomShape 8"/>
          <p:cNvSpPr/>
          <p:nvPr/>
        </p:nvSpPr>
        <p:spPr>
          <a:xfrm>
            <a:off x="549000" y="42062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Set up your global rules (AGENTS.md)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4" name="CustomShape 9"/>
          <p:cNvSpPr/>
          <p:nvPr/>
        </p:nvSpPr>
        <p:spPr>
          <a:xfrm>
            <a:off x="549000" y="46634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Use the full PIV loop process we covered (iterate multiple times)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5" name="CustomShape 10"/>
          <p:cNvSpPr/>
          <p:nvPr/>
        </p:nvSpPr>
        <p:spPr>
          <a:xfrm>
            <a:off x="549000" y="5120640"/>
            <a:ext cx="1097172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See what it’s like to build on a foundation designed for AI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6" name="CustomShape 11"/>
          <p:cNvSpPr/>
          <p:nvPr/>
        </p:nvSpPr>
        <p:spPr>
          <a:xfrm>
            <a:off x="548640" y="5669280"/>
            <a:ext cx="10971720" cy="91332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77" name="CustomShape 12"/>
          <p:cNvSpPr/>
          <p:nvPr/>
        </p:nvSpPr>
        <p:spPr>
          <a:xfrm>
            <a:off x="823320" y="5943600"/>
            <a:ext cx="10423080" cy="364680"/>
          </a:xfrm>
          <a:prstGeom prst="rect">
            <a:avLst/>
          </a:prstGeom>
          <a:noFill/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cccccc"/>
                </a:solidFill>
                <a:latin typeface="Inter"/>
                <a:ea typeface="DejaVu Sans"/>
              </a:rPr>
              <a:t>Goal: Build any feature using PRD → Rules → PIV Loops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CustomShape 1"/>
          <p:cNvSpPr/>
          <p:nvPr/>
        </p:nvSpPr>
        <p:spPr>
          <a:xfrm>
            <a:off x="0" y="0"/>
            <a:ext cx="71280" cy="6856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9" name="CustomShape 2"/>
          <p:cNvSpPr/>
          <p:nvPr/>
        </p:nvSpPr>
        <p:spPr>
          <a:xfrm>
            <a:off x="3098880" y="457200"/>
            <a:ext cx="587484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afafa"/>
                </a:solidFill>
                <a:latin typeface="Inter"/>
                <a:ea typeface="DejaVu Sans"/>
              </a:rPr>
              <a:t>Beyond This Workshop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80" name="CustomShape 3"/>
          <p:cNvSpPr/>
          <p:nvPr/>
        </p:nvSpPr>
        <p:spPr>
          <a:xfrm>
            <a:off x="548640" y="1371600"/>
            <a:ext cx="2284200" cy="529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1" name="CustomShape 4"/>
          <p:cNvSpPr/>
          <p:nvPr/>
        </p:nvSpPr>
        <p:spPr>
          <a:xfrm>
            <a:off x="548640" y="196596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2" name="CustomShape 5"/>
          <p:cNvSpPr/>
          <p:nvPr/>
        </p:nvSpPr>
        <p:spPr>
          <a:xfrm>
            <a:off x="914400" y="182880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Practice the PIV loop on your own codebases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83" name="CustomShape 6"/>
          <p:cNvSpPr/>
          <p:nvPr/>
        </p:nvSpPr>
        <p:spPr>
          <a:xfrm>
            <a:off x="548640" y="306324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4" name="CustomShape 7"/>
          <p:cNvSpPr/>
          <p:nvPr/>
        </p:nvSpPr>
        <p:spPr>
          <a:xfrm>
            <a:off x="914400" y="292608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Build global rules for your codebase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85" name="CustomShape 8"/>
          <p:cNvSpPr/>
          <p:nvPr/>
        </p:nvSpPr>
        <p:spPr>
          <a:xfrm>
            <a:off x="548640" y="416052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6" name="CustomShape 9"/>
          <p:cNvSpPr/>
          <p:nvPr/>
        </p:nvSpPr>
        <p:spPr>
          <a:xfrm>
            <a:off x="914400" y="4023360"/>
            <a:ext cx="10513800" cy="42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Create commands for repeated workflows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87" name="CustomShape 10"/>
          <p:cNvSpPr/>
          <p:nvPr/>
        </p:nvSpPr>
        <p:spPr>
          <a:xfrm>
            <a:off x="548640" y="5257800"/>
            <a:ext cx="108000" cy="108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8" name="CustomShape 11"/>
          <p:cNvSpPr/>
          <p:nvPr/>
        </p:nvSpPr>
        <p:spPr>
          <a:xfrm>
            <a:off x="914400" y="5120640"/>
            <a:ext cx="105138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afafa"/>
                </a:solidFill>
                <a:latin typeface="Inter"/>
                <a:ea typeface="DejaVu Sans"/>
              </a:rPr>
              <a:t>Leverage skills and on-demand context to guide your agent without overwhelming it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CustomShape 1"/>
          <p:cNvSpPr/>
          <p:nvPr/>
        </p:nvSpPr>
        <p:spPr>
          <a:xfrm>
            <a:off x="0" y="0"/>
            <a:ext cx="12189960" cy="135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0" name="CustomShape 2"/>
          <p:cNvSpPr/>
          <p:nvPr/>
        </p:nvSpPr>
        <p:spPr>
          <a:xfrm>
            <a:off x="427680" y="1738800"/>
            <a:ext cx="11275560" cy="94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5600" spc="-1" strike="noStrike">
                <a:solidFill>
                  <a:srgbClr val="fafafa"/>
                </a:solidFill>
                <a:latin typeface="Inter"/>
                <a:ea typeface="DejaVu Sans"/>
              </a:rPr>
              <a:t>Thank You</a:t>
            </a:r>
            <a:endParaRPr b="0" lang="en-US" sz="5600" spc="-1" strike="noStrike">
              <a:latin typeface="Arial"/>
            </a:endParaRPr>
          </a:p>
        </p:txBody>
      </p:sp>
      <p:sp>
        <p:nvSpPr>
          <p:cNvPr id="691" name="CustomShape 3"/>
          <p:cNvSpPr/>
          <p:nvPr/>
        </p:nvSpPr>
        <p:spPr>
          <a:xfrm>
            <a:off x="4235040" y="3293280"/>
            <a:ext cx="36604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cccccc"/>
                </a:solidFill>
                <a:latin typeface="Inter"/>
                <a:ea typeface="DejaVu Sans"/>
              </a:rPr>
              <a:t>Questions &amp; Discussion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92" name="CustomShape 4"/>
          <p:cNvSpPr/>
          <p:nvPr/>
        </p:nvSpPr>
        <p:spPr>
          <a:xfrm>
            <a:off x="2157480" y="4482000"/>
            <a:ext cx="782100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3b82f6"/>
                </a:solidFill>
                <a:latin typeface="Inter"/>
                <a:ea typeface="DejaVu Sans"/>
              </a:rPr>
              <a:t>cole@dynamous.ai | Dynamous AI Community – https://dynamous.ai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Neat_Office/6.2.8.2$Windows_x86 LibreOffice_project/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2026-03-01T15:14:56Z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