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9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_rels/presentation.xml.rels" ContentType="application/vnd.openxmlformats-package.relationships+xml"/>
  <Override PartName="/ppt/slides/slide26.xml" ContentType="application/vnd.openxmlformats-officedocument.presentationml.slide+xml"/>
  <Override PartName="/ppt/slides/slide9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_rels/slide9.xml.rels" ContentType="application/vnd.openxmlformats-package.relationships+xml"/>
  <Override PartName="/ppt/slides/_rels/slide35.xml.rels" ContentType="application/vnd.openxmlformats-package.relationships+xml"/>
  <Override PartName="/ppt/slides/_rels/slide1.xml.rels" ContentType="application/vnd.openxmlformats-package.relationships+xml"/>
  <Override PartName="/ppt/slides/_rels/slide36.xml.rels" ContentType="application/vnd.openxmlformats-package.relationships+xml"/>
  <Override PartName="/ppt/slides/_rels/slide2.xml.rels" ContentType="application/vnd.openxmlformats-package.relationships+xml"/>
  <Override PartName="/ppt/slides/_rels/slide37.xml.rels" ContentType="application/vnd.openxmlformats-package.relationships+xml"/>
  <Override PartName="/ppt/slides/_rels/slide3.xml.rels" ContentType="application/vnd.openxmlformats-package.relationships+xml"/>
  <Override PartName="/ppt/slides/_rels/slide38.xml.rels" ContentType="application/vnd.openxmlformats-package.relationships+xml"/>
  <Override PartName="/ppt/slides/_rels/slide4.xml.rels" ContentType="application/vnd.openxmlformats-package.relationships+xml"/>
  <Override PartName="/ppt/slides/_rels/slide39.xml.rels" ContentType="application/vnd.openxmlformats-package.relationships+xml"/>
  <Override PartName="/ppt/slides/_rels/slide5.xml.rels" ContentType="application/vnd.openxmlformats-package.relationships+xml"/>
  <Override PartName="/ppt/slides/_rels/slide50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0.xml.rels" ContentType="application/vnd.openxmlformats-package.relationships+xml"/>
  <Override PartName="/ppt/slides/_rels/slide21.xml.rels" ContentType="application/vnd.openxmlformats-package.relationships+xml"/>
  <Override PartName="/ppt/slides/_rels/slide22.xml.rels" ContentType="application/vnd.openxmlformats-package.relationships+xml"/>
  <Override PartName="/ppt/slides/_rels/slide23.xml.rels" ContentType="application/vnd.openxmlformats-package.relationships+xml"/>
  <Override PartName="/ppt/slides/_rels/slide24.xml.rels" ContentType="application/vnd.openxmlformats-package.relationships+xml"/>
  <Override PartName="/ppt/slides/_rels/slide25.xml.rels" ContentType="application/vnd.openxmlformats-package.relationships+xml"/>
  <Override PartName="/ppt/slides/_rels/slide26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slides/_rels/slide29.xml.rels" ContentType="application/vnd.openxmlformats-package.relationships+xml"/>
  <Override PartName="/ppt/slides/_rels/slide30.xml.rels" ContentType="application/vnd.openxmlformats-package.relationships+xml"/>
  <Override PartName="/ppt/slides/_rels/slide31.xml.rels" ContentType="application/vnd.openxmlformats-package.relationships+xml"/>
  <Override PartName="/ppt/slides/_rels/slide32.xml.rels" ContentType="application/vnd.openxmlformats-package.relationships+xml"/>
  <Override PartName="/ppt/slides/_rels/slide33.xml.rels" ContentType="application/vnd.openxmlformats-package.relationships+xml"/>
  <Override PartName="/ppt/slides/_rels/slide34.xml.rels" ContentType="application/vnd.openxmlformats-package.relationships+xml"/>
  <Override PartName="/ppt/slides/_rels/slide40.xml.rels" ContentType="application/vnd.openxmlformats-package.relationships+xml"/>
  <Override PartName="/ppt/slides/_rels/slide41.xml.rels" ContentType="application/vnd.openxmlformats-package.relationships+xml"/>
  <Override PartName="/ppt/slides/_rels/slide42.xml.rels" ContentType="application/vnd.openxmlformats-package.relationships+xml"/>
  <Override PartName="/ppt/slides/_rels/slide43.xml.rels" ContentType="application/vnd.openxmlformats-package.relationships+xml"/>
  <Override PartName="/ppt/slides/_rels/slide44.xml.rels" ContentType="application/vnd.openxmlformats-package.relationships+xml"/>
  <Override PartName="/ppt/slides/_rels/slide45.xml.rels" ContentType="application/vnd.openxmlformats-package.relationships+xml"/>
  <Override PartName="/ppt/slides/_rels/slide46.xml.rels" ContentType="application/vnd.openxmlformats-package.relationships+xml"/>
  <Override PartName="/ppt/slides/_rels/slide47.xml.rels" ContentType="application/vnd.openxmlformats-package.relationships+xml"/>
  <Override PartName="/ppt/slides/_rels/slide48.xml.rels" ContentType="application/vnd.openxmlformats-package.relationships+xml"/>
  <Override PartName="/ppt/slides/_rels/slide49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</p:sldIdLst>
  <p:sldSz cx="12192000" cy="6858000"/>
  <p:notesSz cx="7772400" cy="10058400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8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sp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3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4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5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CustomShape 1"/>
          <p:cNvSpPr/>
          <p:nvPr/>
        </p:nvSpPr>
        <p:spPr>
          <a:xfrm>
            <a:off x="0" y="0"/>
            <a:ext cx="12190320" cy="1357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7" name="CustomShape 2"/>
          <p:cNvSpPr/>
          <p:nvPr/>
        </p:nvSpPr>
        <p:spPr>
          <a:xfrm>
            <a:off x="457200" y="1920240"/>
            <a:ext cx="11275920" cy="1796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5600" spc="-1" strike="noStrike">
                <a:solidFill>
                  <a:srgbClr val="fafafa"/>
                </a:solidFill>
                <a:latin typeface="Inter"/>
                <a:ea typeface="DejaVu Sans"/>
              </a:rPr>
              <a:t>Agentic Engineering Workshop</a:t>
            </a:r>
            <a:endParaRPr b="0" lang="en-US" sz="5600" spc="-1" strike="noStrike">
              <a:latin typeface="Arial"/>
            </a:endParaRPr>
          </a:p>
        </p:txBody>
      </p:sp>
      <p:sp>
        <p:nvSpPr>
          <p:cNvPr id="78" name="CustomShape 3"/>
          <p:cNvSpPr/>
          <p:nvPr/>
        </p:nvSpPr>
        <p:spPr>
          <a:xfrm>
            <a:off x="2536560" y="3658680"/>
            <a:ext cx="711720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2400" spc="-1" strike="noStrike">
                <a:solidFill>
                  <a:srgbClr val="cccccc"/>
                </a:solidFill>
                <a:latin typeface="Inter"/>
                <a:ea typeface="DejaVu Sans"/>
              </a:rPr>
              <a:t>AI-Assisted Development for Enterprise Teams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79" name="CustomShape 4"/>
          <p:cNvSpPr/>
          <p:nvPr/>
        </p:nvSpPr>
        <p:spPr>
          <a:xfrm>
            <a:off x="4686480" y="4663440"/>
            <a:ext cx="281664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3b82f6"/>
                </a:solidFill>
                <a:latin typeface="Inter"/>
                <a:ea typeface="DejaVu Sans"/>
              </a:rPr>
              <a:t>Cole Medin | Dynamous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CustomShape 1"/>
          <p:cNvSpPr/>
          <p:nvPr/>
        </p:nvSpPr>
        <p:spPr>
          <a:xfrm>
            <a:off x="0" y="0"/>
            <a:ext cx="71640" cy="6856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1" name="CustomShape 2"/>
          <p:cNvSpPr/>
          <p:nvPr/>
        </p:nvSpPr>
        <p:spPr>
          <a:xfrm>
            <a:off x="3031200" y="457200"/>
            <a:ext cx="600624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What We'll Cover Today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82" name="CustomShape 3"/>
          <p:cNvSpPr/>
          <p:nvPr/>
        </p:nvSpPr>
        <p:spPr>
          <a:xfrm>
            <a:off x="548640" y="1371600"/>
            <a:ext cx="2284560" cy="53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3" name="CustomShape 4"/>
          <p:cNvSpPr/>
          <p:nvPr/>
        </p:nvSpPr>
        <p:spPr>
          <a:xfrm>
            <a:off x="548640" y="1965960"/>
            <a:ext cx="108360" cy="108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4" name="CustomShape 5"/>
          <p:cNvSpPr/>
          <p:nvPr/>
        </p:nvSpPr>
        <p:spPr>
          <a:xfrm>
            <a:off x="914400" y="1828800"/>
            <a:ext cx="1051416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The New SDLC - Your codebase now has an AI layer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85" name="CustomShape 6"/>
          <p:cNvSpPr/>
          <p:nvPr/>
        </p:nvSpPr>
        <p:spPr>
          <a:xfrm>
            <a:off x="548640" y="3063240"/>
            <a:ext cx="108360" cy="108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6" name="CustomShape 7"/>
          <p:cNvSpPr/>
          <p:nvPr/>
        </p:nvSpPr>
        <p:spPr>
          <a:xfrm>
            <a:off x="914400" y="2926080"/>
            <a:ext cx="1051416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PRD + PIV Methodology - Structured approach to AI-assisted development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87" name="CustomShape 8"/>
          <p:cNvSpPr/>
          <p:nvPr/>
        </p:nvSpPr>
        <p:spPr>
          <a:xfrm>
            <a:off x="548640" y="4160520"/>
            <a:ext cx="108360" cy="108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8" name="CustomShape 9"/>
          <p:cNvSpPr/>
          <p:nvPr/>
        </p:nvSpPr>
        <p:spPr>
          <a:xfrm>
            <a:off x="914400" y="4023360"/>
            <a:ext cx="1051416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Rules, Commands &amp; Skills - Building your AI layer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89" name="CustomShape 10"/>
          <p:cNvSpPr/>
          <p:nvPr/>
        </p:nvSpPr>
        <p:spPr>
          <a:xfrm>
            <a:off x="548640" y="5257800"/>
            <a:ext cx="108360" cy="108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0" name="CustomShape 11"/>
          <p:cNvSpPr/>
          <p:nvPr/>
        </p:nvSpPr>
        <p:spPr>
          <a:xfrm>
            <a:off x="914400" y="5120640"/>
            <a:ext cx="1051416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AI-Native Architecture - Optimizing codebases for agents</a:t>
            </a:r>
            <a:endParaRPr b="0" lang="en-US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CustomShape 1"/>
          <p:cNvSpPr/>
          <p:nvPr/>
        </p:nvSpPr>
        <p:spPr>
          <a:xfrm>
            <a:off x="2177640" y="365760"/>
            <a:ext cx="783504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The Promise of This Workshop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92" name="CustomShape 2"/>
          <p:cNvSpPr/>
          <p:nvPr/>
        </p:nvSpPr>
        <p:spPr>
          <a:xfrm>
            <a:off x="457200" y="1234440"/>
            <a:ext cx="2284560" cy="5328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3" name="CustomShape 3"/>
          <p:cNvSpPr/>
          <p:nvPr/>
        </p:nvSpPr>
        <p:spPr>
          <a:xfrm>
            <a:off x="457200" y="1645920"/>
            <a:ext cx="5302080" cy="457056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4" name="CustomShape 4"/>
          <p:cNvSpPr/>
          <p:nvPr/>
        </p:nvSpPr>
        <p:spPr>
          <a:xfrm>
            <a:off x="1230480" y="1920240"/>
            <a:ext cx="375516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3b82f6"/>
                </a:solidFill>
                <a:latin typeface="Inter"/>
                <a:ea typeface="DejaVu Sans"/>
              </a:rPr>
              <a:t>What You're Experiencing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95" name="CustomShape 5"/>
          <p:cNvSpPr/>
          <p:nvPr/>
        </p:nvSpPr>
        <p:spPr>
          <a:xfrm>
            <a:off x="731520" y="256032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Vibe coding with AI feels fast initially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96" name="CustomShape 6"/>
          <p:cNvSpPr/>
          <p:nvPr/>
        </p:nvSpPr>
        <p:spPr>
          <a:xfrm>
            <a:off x="731520" y="338328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Code quality issues compound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97" name="CustomShape 7"/>
          <p:cNvSpPr/>
          <p:nvPr/>
        </p:nvSpPr>
        <p:spPr>
          <a:xfrm>
            <a:off x="731520" y="420624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Time lost to cleanup and refactoring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98" name="CustomShape 8"/>
          <p:cNvSpPr/>
          <p:nvPr/>
        </p:nvSpPr>
        <p:spPr>
          <a:xfrm>
            <a:off x="731520" y="502920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Inconsistent results across sessions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99" name="CustomShape 9"/>
          <p:cNvSpPr/>
          <p:nvPr/>
        </p:nvSpPr>
        <p:spPr>
          <a:xfrm>
            <a:off x="6400800" y="1645920"/>
            <a:ext cx="5302080" cy="457056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0" name="CustomShape 10"/>
          <p:cNvSpPr/>
          <p:nvPr/>
        </p:nvSpPr>
        <p:spPr>
          <a:xfrm>
            <a:off x="7867440" y="1920240"/>
            <a:ext cx="236844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4ade80"/>
                </a:solidFill>
                <a:latin typeface="Inter"/>
                <a:ea typeface="DejaVu Sans"/>
              </a:rPr>
              <a:t>What's Possible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01" name="CustomShape 11"/>
          <p:cNvSpPr/>
          <p:nvPr/>
        </p:nvSpPr>
        <p:spPr>
          <a:xfrm>
            <a:off x="6675120" y="256032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Structured approach for consistent quality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02" name="CustomShape 12"/>
          <p:cNvSpPr/>
          <p:nvPr/>
        </p:nvSpPr>
        <p:spPr>
          <a:xfrm>
            <a:off x="6675120" y="338328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AI layer effectiveness compounds over time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03" name="CustomShape 13"/>
          <p:cNvSpPr/>
          <p:nvPr/>
        </p:nvSpPr>
        <p:spPr>
          <a:xfrm>
            <a:off x="6675120" y="420624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Less time fixing, more time building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04" name="CustomShape 14"/>
          <p:cNvSpPr/>
          <p:nvPr/>
        </p:nvSpPr>
        <p:spPr>
          <a:xfrm>
            <a:off x="6675120" y="502920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Reliable results every session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CustomShape 1"/>
          <p:cNvSpPr/>
          <p:nvPr/>
        </p:nvSpPr>
        <p:spPr>
          <a:xfrm>
            <a:off x="3491280" y="365760"/>
            <a:ext cx="520776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Hands-On Exercises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06" name="CustomShape 2"/>
          <p:cNvSpPr/>
          <p:nvPr/>
        </p:nvSpPr>
        <p:spPr>
          <a:xfrm>
            <a:off x="457200" y="1234440"/>
            <a:ext cx="2284560" cy="5328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7" name="CustomShape 3"/>
          <p:cNvSpPr/>
          <p:nvPr/>
        </p:nvSpPr>
        <p:spPr>
          <a:xfrm>
            <a:off x="457200" y="1645920"/>
            <a:ext cx="2612160" cy="438768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8" name="CustomShape 4"/>
          <p:cNvSpPr/>
          <p:nvPr/>
        </p:nvSpPr>
        <p:spPr>
          <a:xfrm>
            <a:off x="457200" y="1645920"/>
            <a:ext cx="2612160" cy="90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9" name="CustomShape 5"/>
          <p:cNvSpPr/>
          <p:nvPr/>
        </p:nvSpPr>
        <p:spPr>
          <a:xfrm>
            <a:off x="712440" y="1920240"/>
            <a:ext cx="58536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3b82f6"/>
                </a:solidFill>
                <a:latin typeface="Inter"/>
                <a:ea typeface="DejaVu Sans"/>
              </a:rPr>
              <a:t>01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10" name="CustomShape 6"/>
          <p:cNvSpPr/>
          <p:nvPr/>
        </p:nvSpPr>
        <p:spPr>
          <a:xfrm>
            <a:off x="640080" y="2560320"/>
            <a:ext cx="224640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fafafa"/>
                </a:solidFill>
                <a:latin typeface="Inter"/>
                <a:ea typeface="DejaVu Sans"/>
              </a:rPr>
              <a:t>Baseline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1" name="CustomShape 7"/>
          <p:cNvSpPr/>
          <p:nvPr/>
        </p:nvSpPr>
        <p:spPr>
          <a:xfrm>
            <a:off x="640080" y="3474720"/>
            <a:ext cx="2246400" cy="942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cccccc"/>
                </a:solidFill>
                <a:latin typeface="Inter"/>
                <a:ea typeface="DejaVu Sans"/>
              </a:rPr>
              <a:t>Apply your current AI workflow to a brownfield development task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12" name="CustomShape 8"/>
          <p:cNvSpPr/>
          <p:nvPr/>
        </p:nvSpPr>
        <p:spPr>
          <a:xfrm>
            <a:off x="3345120" y="1645920"/>
            <a:ext cx="2612160" cy="438768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3" name="CustomShape 9"/>
          <p:cNvSpPr/>
          <p:nvPr/>
        </p:nvSpPr>
        <p:spPr>
          <a:xfrm>
            <a:off x="3345120" y="1645920"/>
            <a:ext cx="2612160" cy="9000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4" name="CustomShape 10"/>
          <p:cNvSpPr/>
          <p:nvPr/>
        </p:nvSpPr>
        <p:spPr>
          <a:xfrm>
            <a:off x="3600360" y="1920240"/>
            <a:ext cx="58536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60a5fa"/>
                </a:solidFill>
                <a:latin typeface="Inter"/>
                <a:ea typeface="DejaVu Sans"/>
              </a:rPr>
              <a:t>02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15" name="CustomShape 11"/>
          <p:cNvSpPr/>
          <p:nvPr/>
        </p:nvSpPr>
        <p:spPr>
          <a:xfrm>
            <a:off x="3528000" y="2560320"/>
            <a:ext cx="224640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fafafa"/>
                </a:solidFill>
                <a:latin typeface="Inter"/>
                <a:ea typeface="DejaVu Sans"/>
              </a:rPr>
              <a:t>PIV Loop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6" name="CustomShape 12"/>
          <p:cNvSpPr/>
          <p:nvPr/>
        </p:nvSpPr>
        <p:spPr>
          <a:xfrm>
            <a:off x="3528000" y="3474720"/>
            <a:ext cx="2246400" cy="942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cccccc"/>
                </a:solidFill>
                <a:latin typeface="Inter"/>
                <a:ea typeface="DejaVu Sans"/>
              </a:rPr>
              <a:t>Apply the planning → implementing → validating process to the same task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17" name="CustomShape 13"/>
          <p:cNvSpPr/>
          <p:nvPr/>
        </p:nvSpPr>
        <p:spPr>
          <a:xfrm>
            <a:off x="6233040" y="1645920"/>
            <a:ext cx="2612160" cy="438768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8" name="CustomShape 14"/>
          <p:cNvSpPr/>
          <p:nvPr/>
        </p:nvSpPr>
        <p:spPr>
          <a:xfrm>
            <a:off x="6233040" y="1645920"/>
            <a:ext cx="2612160" cy="9000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9" name="CustomShape 15"/>
          <p:cNvSpPr/>
          <p:nvPr/>
        </p:nvSpPr>
        <p:spPr>
          <a:xfrm>
            <a:off x="6488280" y="1920240"/>
            <a:ext cx="58536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0ea5e9"/>
                </a:solidFill>
                <a:latin typeface="Inter"/>
                <a:ea typeface="DejaVu Sans"/>
              </a:rPr>
              <a:t>03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20" name="CustomShape 16"/>
          <p:cNvSpPr/>
          <p:nvPr/>
        </p:nvSpPr>
        <p:spPr>
          <a:xfrm>
            <a:off x="6415920" y="2560320"/>
            <a:ext cx="224640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fafafa"/>
                </a:solidFill>
                <a:latin typeface="Inter"/>
                <a:ea typeface="DejaVu Sans"/>
              </a:rPr>
              <a:t>Build a Command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1" name="CustomShape 17"/>
          <p:cNvSpPr/>
          <p:nvPr/>
        </p:nvSpPr>
        <p:spPr>
          <a:xfrm>
            <a:off x="6415920" y="3474720"/>
            <a:ext cx="2246400" cy="942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cccccc"/>
                </a:solidFill>
                <a:latin typeface="Inter"/>
                <a:ea typeface="DejaVu Sans"/>
              </a:rPr>
              <a:t>Create your own workflow command to automate something you do daily/weekly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22" name="CustomShape 18"/>
          <p:cNvSpPr/>
          <p:nvPr/>
        </p:nvSpPr>
        <p:spPr>
          <a:xfrm>
            <a:off x="9120960" y="1645920"/>
            <a:ext cx="2612160" cy="438768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3" name="CustomShape 19"/>
          <p:cNvSpPr/>
          <p:nvPr/>
        </p:nvSpPr>
        <p:spPr>
          <a:xfrm>
            <a:off x="9120960" y="1645920"/>
            <a:ext cx="2612160" cy="9000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4" name="CustomShape 20"/>
          <p:cNvSpPr/>
          <p:nvPr/>
        </p:nvSpPr>
        <p:spPr>
          <a:xfrm>
            <a:off x="9376200" y="1920240"/>
            <a:ext cx="58536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4ade80"/>
                </a:solidFill>
                <a:latin typeface="Inter"/>
                <a:ea typeface="DejaVu Sans"/>
              </a:rPr>
              <a:t>04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25" name="CustomShape 21"/>
          <p:cNvSpPr/>
          <p:nvPr/>
        </p:nvSpPr>
        <p:spPr>
          <a:xfrm>
            <a:off x="9303840" y="2560320"/>
            <a:ext cx="224640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fafafa"/>
                </a:solidFill>
                <a:latin typeface="Inter"/>
                <a:ea typeface="DejaVu Sans"/>
              </a:rPr>
              <a:t>AI-Optimized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26" name="CustomShape 22"/>
          <p:cNvSpPr/>
          <p:nvPr/>
        </p:nvSpPr>
        <p:spPr>
          <a:xfrm>
            <a:off x="9303840" y="3474720"/>
            <a:ext cx="2246400" cy="72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cccccc"/>
                </a:solidFill>
                <a:latin typeface="Inter"/>
                <a:ea typeface="DejaVu Sans"/>
              </a:rPr>
              <a:t>Build anything on top of an AI-optimized codebase (Next.js)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CustomShape 1"/>
          <p:cNvSpPr/>
          <p:nvPr/>
        </p:nvSpPr>
        <p:spPr>
          <a:xfrm>
            <a:off x="0" y="0"/>
            <a:ext cx="4113360" cy="6856560"/>
          </a:xfrm>
          <a:prstGeom prst="rect">
            <a:avLst/>
          </a:prstGeom>
          <a:solidFill>
            <a:srgbClr val="080a13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8" name="CustomShape 2"/>
          <p:cNvSpPr/>
          <p:nvPr/>
        </p:nvSpPr>
        <p:spPr>
          <a:xfrm>
            <a:off x="950040" y="2560320"/>
            <a:ext cx="2212920" cy="1918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12000" spc="-1" strike="noStrike">
                <a:solidFill>
                  <a:srgbClr val="3b82f6"/>
                </a:solidFill>
                <a:latin typeface="Inter"/>
                <a:ea typeface="DejaVu Sans"/>
              </a:rPr>
              <a:t>01</a:t>
            </a:r>
            <a:endParaRPr b="0" lang="en-US" sz="12000" spc="-1" strike="noStrike">
              <a:latin typeface="Arial"/>
            </a:endParaRPr>
          </a:p>
        </p:txBody>
      </p:sp>
      <p:sp>
        <p:nvSpPr>
          <p:cNvPr id="129" name="CustomShape 3"/>
          <p:cNvSpPr/>
          <p:nvPr/>
        </p:nvSpPr>
        <p:spPr>
          <a:xfrm>
            <a:off x="4114800" y="1371600"/>
            <a:ext cx="71640" cy="4113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0" name="CustomShape 4"/>
          <p:cNvSpPr/>
          <p:nvPr/>
        </p:nvSpPr>
        <p:spPr>
          <a:xfrm>
            <a:off x="4754880" y="2377440"/>
            <a:ext cx="6856560" cy="759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4400" spc="-1" strike="noStrike">
                <a:solidFill>
                  <a:srgbClr val="fafafa"/>
                </a:solidFill>
                <a:latin typeface="Inter"/>
                <a:ea typeface="DejaVu Sans"/>
              </a:rPr>
              <a:t>The New SDLC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31" name="CustomShape 5"/>
          <p:cNvSpPr/>
          <p:nvPr/>
        </p:nvSpPr>
        <p:spPr>
          <a:xfrm>
            <a:off x="4754880" y="3840480"/>
            <a:ext cx="685656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cccccc"/>
                </a:solidFill>
                <a:latin typeface="Inter"/>
                <a:ea typeface="DejaVu Sans"/>
              </a:rPr>
              <a:t>Your codebase now has an AI layer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CustomShape 1"/>
          <p:cNvSpPr/>
          <p:nvPr/>
        </p:nvSpPr>
        <p:spPr>
          <a:xfrm>
            <a:off x="4240440" y="457200"/>
            <a:ext cx="3709440" cy="699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afafa"/>
                </a:solidFill>
                <a:latin typeface="Inter"/>
                <a:ea typeface="DejaVu Sans"/>
              </a:rPr>
              <a:t>The AI Layer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133" name="CustomShape 2"/>
          <p:cNvSpPr/>
          <p:nvPr/>
        </p:nvSpPr>
        <p:spPr>
          <a:xfrm>
            <a:off x="868680" y="196596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4" name="CustomShape 3"/>
          <p:cNvSpPr/>
          <p:nvPr/>
        </p:nvSpPr>
        <p:spPr>
          <a:xfrm>
            <a:off x="731520" y="182880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5" name="CustomShape 4"/>
          <p:cNvSpPr/>
          <p:nvPr/>
        </p:nvSpPr>
        <p:spPr>
          <a:xfrm>
            <a:off x="1005840" y="2103120"/>
            <a:ext cx="730080" cy="108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6" name="CustomShape 5"/>
          <p:cNvSpPr/>
          <p:nvPr/>
        </p:nvSpPr>
        <p:spPr>
          <a:xfrm>
            <a:off x="1100880" y="2377440"/>
            <a:ext cx="72252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3b82f6"/>
                </a:solidFill>
                <a:latin typeface="Inter"/>
                <a:ea typeface="DejaVu Sans"/>
              </a:rPr>
              <a:t>01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137" name="CustomShape 6"/>
          <p:cNvSpPr/>
          <p:nvPr/>
        </p:nvSpPr>
        <p:spPr>
          <a:xfrm>
            <a:off x="1005840" y="3200400"/>
            <a:ext cx="329040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Global Rules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38" name="CustomShape 7"/>
          <p:cNvSpPr/>
          <p:nvPr/>
        </p:nvSpPr>
        <p:spPr>
          <a:xfrm>
            <a:off x="1005840" y="4206240"/>
            <a:ext cx="3290400" cy="576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Constraints and conventions that apply to every task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39" name="CustomShape 8"/>
          <p:cNvSpPr/>
          <p:nvPr/>
        </p:nvSpPr>
        <p:spPr>
          <a:xfrm>
            <a:off x="4251960" y="233172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0" name="CustomShape 9"/>
          <p:cNvSpPr/>
          <p:nvPr/>
        </p:nvSpPr>
        <p:spPr>
          <a:xfrm>
            <a:off x="4114800" y="219456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1" name="CustomShape 10"/>
          <p:cNvSpPr/>
          <p:nvPr/>
        </p:nvSpPr>
        <p:spPr>
          <a:xfrm>
            <a:off x="4389120" y="2468880"/>
            <a:ext cx="730080" cy="10836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2" name="CustomShape 11"/>
          <p:cNvSpPr/>
          <p:nvPr/>
        </p:nvSpPr>
        <p:spPr>
          <a:xfrm>
            <a:off x="4484160" y="2743200"/>
            <a:ext cx="72252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60a5fa"/>
                </a:solidFill>
                <a:latin typeface="Inter"/>
                <a:ea typeface="DejaVu Sans"/>
              </a:rPr>
              <a:t>02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143" name="CustomShape 12"/>
          <p:cNvSpPr/>
          <p:nvPr/>
        </p:nvSpPr>
        <p:spPr>
          <a:xfrm>
            <a:off x="4389120" y="3566160"/>
            <a:ext cx="329040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On-Demand Context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44" name="CustomShape 13"/>
          <p:cNvSpPr/>
          <p:nvPr/>
        </p:nvSpPr>
        <p:spPr>
          <a:xfrm>
            <a:off x="4389120" y="4572000"/>
            <a:ext cx="3290400" cy="576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Task-specific resources 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loaded when needed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45" name="CustomShape 14"/>
          <p:cNvSpPr/>
          <p:nvPr/>
        </p:nvSpPr>
        <p:spPr>
          <a:xfrm>
            <a:off x="7635240" y="178308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6" name="CustomShape 15"/>
          <p:cNvSpPr/>
          <p:nvPr/>
        </p:nvSpPr>
        <p:spPr>
          <a:xfrm>
            <a:off x="7498080" y="164592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7" name="CustomShape 16"/>
          <p:cNvSpPr/>
          <p:nvPr/>
        </p:nvSpPr>
        <p:spPr>
          <a:xfrm>
            <a:off x="7772400" y="1920240"/>
            <a:ext cx="730080" cy="10836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8" name="CustomShape 17"/>
          <p:cNvSpPr/>
          <p:nvPr/>
        </p:nvSpPr>
        <p:spPr>
          <a:xfrm>
            <a:off x="7867440" y="2194560"/>
            <a:ext cx="72252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0ea5e9"/>
                </a:solidFill>
                <a:latin typeface="Inter"/>
                <a:ea typeface="DejaVu Sans"/>
              </a:rPr>
              <a:t>03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149" name="CustomShape 18"/>
          <p:cNvSpPr/>
          <p:nvPr/>
        </p:nvSpPr>
        <p:spPr>
          <a:xfrm>
            <a:off x="7772400" y="3017520"/>
            <a:ext cx="329040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Skills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50" name="CustomShape 19"/>
          <p:cNvSpPr/>
          <p:nvPr/>
        </p:nvSpPr>
        <p:spPr>
          <a:xfrm>
            <a:off x="7772400" y="4023360"/>
            <a:ext cx="3290400" cy="576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Packaged workflows/guidance with progressive disclosure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CustomShape 1"/>
          <p:cNvSpPr/>
          <p:nvPr/>
        </p:nvSpPr>
        <p:spPr>
          <a:xfrm>
            <a:off x="2989800" y="365760"/>
            <a:ext cx="621036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AI Throughout the SDLC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52" name="CustomShape 2"/>
          <p:cNvSpPr/>
          <p:nvPr/>
        </p:nvSpPr>
        <p:spPr>
          <a:xfrm>
            <a:off x="457200" y="1234440"/>
            <a:ext cx="2284560" cy="5328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3" name="CustomShape 3"/>
          <p:cNvSpPr/>
          <p:nvPr/>
        </p:nvSpPr>
        <p:spPr>
          <a:xfrm>
            <a:off x="457200" y="1645920"/>
            <a:ext cx="5302080" cy="457056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4" name="CustomShape 4"/>
          <p:cNvSpPr/>
          <p:nvPr/>
        </p:nvSpPr>
        <p:spPr>
          <a:xfrm>
            <a:off x="1850040" y="1920240"/>
            <a:ext cx="251640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cccccc"/>
                </a:solidFill>
                <a:latin typeface="Inter"/>
                <a:ea typeface="DejaVu Sans"/>
              </a:rPr>
              <a:t>Traditional SDLC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55" name="CustomShape 5"/>
          <p:cNvSpPr/>
          <p:nvPr/>
        </p:nvSpPr>
        <p:spPr>
          <a:xfrm>
            <a:off x="731520" y="256032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Code first, QA after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6" name="CustomShape 6"/>
          <p:cNvSpPr/>
          <p:nvPr/>
        </p:nvSpPr>
        <p:spPr>
          <a:xfrm>
            <a:off x="731520" y="338328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Manual review catches issues late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7" name="CustomShape 7"/>
          <p:cNvSpPr/>
          <p:nvPr/>
        </p:nvSpPr>
        <p:spPr>
          <a:xfrm>
            <a:off x="731520" y="420624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Code review is very time consuming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8" name="CustomShape 8"/>
          <p:cNvSpPr/>
          <p:nvPr/>
        </p:nvSpPr>
        <p:spPr>
          <a:xfrm>
            <a:off x="731520" y="502920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Documentation is often not kept up to date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59" name="CustomShape 9"/>
          <p:cNvSpPr/>
          <p:nvPr/>
        </p:nvSpPr>
        <p:spPr>
          <a:xfrm>
            <a:off x="6400800" y="1645920"/>
            <a:ext cx="5302080" cy="457056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0" name="CustomShape 10"/>
          <p:cNvSpPr/>
          <p:nvPr/>
        </p:nvSpPr>
        <p:spPr>
          <a:xfrm>
            <a:off x="7907040" y="1920240"/>
            <a:ext cx="228924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3b82f6"/>
                </a:solidFill>
                <a:latin typeface="Inter"/>
                <a:ea typeface="DejaVu Sans"/>
              </a:rPr>
              <a:t>AI-Native SDLC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61" name="CustomShape 11"/>
          <p:cNvSpPr/>
          <p:nvPr/>
        </p:nvSpPr>
        <p:spPr>
          <a:xfrm>
            <a:off x="6675120" y="256032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Validate during development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62" name="CustomShape 12"/>
          <p:cNvSpPr/>
          <p:nvPr/>
        </p:nvSpPr>
        <p:spPr>
          <a:xfrm>
            <a:off x="6675120" y="338328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AI runs tests after every change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63" name="CustomShape 13"/>
          <p:cNvSpPr/>
          <p:nvPr/>
        </p:nvSpPr>
        <p:spPr>
          <a:xfrm>
            <a:off x="6675120" y="420624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AI-assisted code review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64" name="CustomShape 14"/>
          <p:cNvSpPr/>
          <p:nvPr/>
        </p:nvSpPr>
        <p:spPr>
          <a:xfrm>
            <a:off x="6675120" y="502920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AI layer builds in context persistence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CustomShape 1"/>
          <p:cNvSpPr/>
          <p:nvPr/>
        </p:nvSpPr>
        <p:spPr>
          <a:xfrm>
            <a:off x="759960" y="1005840"/>
            <a:ext cx="1222560" cy="3137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0000" spc="-1" strike="noStrike">
                <a:solidFill>
                  <a:srgbClr val="3b82f6"/>
                </a:solidFill>
                <a:latin typeface="Georgia"/>
                <a:ea typeface="DejaVu Sans"/>
              </a:rPr>
              <a:t>“</a:t>
            </a:r>
            <a:endParaRPr b="0" lang="en-US" sz="20000" spc="-1" strike="noStrike">
              <a:latin typeface="Arial"/>
            </a:endParaRPr>
          </a:p>
        </p:txBody>
      </p:sp>
      <p:sp>
        <p:nvSpPr>
          <p:cNvPr id="166" name="CustomShape 2"/>
          <p:cNvSpPr/>
          <p:nvPr/>
        </p:nvSpPr>
        <p:spPr>
          <a:xfrm>
            <a:off x="914760" y="2194560"/>
            <a:ext cx="108360" cy="2284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7" name="CustomShape 3"/>
          <p:cNvSpPr/>
          <p:nvPr/>
        </p:nvSpPr>
        <p:spPr>
          <a:xfrm>
            <a:off x="1829160" y="2468880"/>
            <a:ext cx="9599760" cy="1551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3200" spc="-1" strike="noStrike">
                <a:solidFill>
                  <a:srgbClr val="fafafa"/>
                </a:solidFill>
                <a:latin typeface="Inter"/>
                <a:ea typeface="DejaVu Sans"/>
              </a:rPr>
              <a:t>How can AI coding assistants be simultaneously extremely capable AND disappointing for so many developers?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168" name="CustomShape 4"/>
          <p:cNvSpPr/>
          <p:nvPr/>
        </p:nvSpPr>
        <p:spPr>
          <a:xfrm>
            <a:off x="5288400" y="4937760"/>
            <a:ext cx="176652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3b82f6"/>
                </a:solidFill>
                <a:latin typeface="Inter"/>
                <a:ea typeface="DejaVu Sans"/>
              </a:rPr>
              <a:t>- The Paradox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CustomShape 1"/>
          <p:cNvSpPr/>
          <p:nvPr/>
        </p:nvSpPr>
        <p:spPr>
          <a:xfrm>
            <a:off x="3222360" y="365760"/>
            <a:ext cx="574560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The Data Tells a Story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70" name="CustomShape 2"/>
          <p:cNvSpPr/>
          <p:nvPr/>
        </p:nvSpPr>
        <p:spPr>
          <a:xfrm>
            <a:off x="458280" y="2468880"/>
            <a:ext cx="2284560" cy="5328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1" name="CustomShape 3"/>
          <p:cNvSpPr/>
          <p:nvPr/>
        </p:nvSpPr>
        <p:spPr>
          <a:xfrm>
            <a:off x="580680" y="2775960"/>
            <a:ext cx="2313720" cy="1186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7200" spc="-1" strike="noStrike">
                <a:solidFill>
                  <a:srgbClr val="3b82f6"/>
                </a:solidFill>
                <a:latin typeface="Inter"/>
                <a:ea typeface="DejaVu Sans"/>
              </a:rPr>
              <a:t>90%</a:t>
            </a:r>
            <a:endParaRPr b="0" lang="en-US" sz="7200" spc="-1" strike="noStrike">
              <a:latin typeface="Arial"/>
            </a:endParaRPr>
          </a:p>
        </p:txBody>
      </p:sp>
      <p:sp>
        <p:nvSpPr>
          <p:cNvPr id="172" name="CustomShape 4"/>
          <p:cNvSpPr/>
          <p:nvPr/>
        </p:nvSpPr>
        <p:spPr>
          <a:xfrm>
            <a:off x="458280" y="4330440"/>
            <a:ext cx="25588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Using AI coding tools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73" name="CustomShape 5"/>
          <p:cNvSpPr/>
          <p:nvPr/>
        </p:nvSpPr>
        <p:spPr>
          <a:xfrm>
            <a:off x="3506760" y="2775960"/>
            <a:ext cx="2313720" cy="1186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7200" spc="-1" strike="noStrike">
                <a:solidFill>
                  <a:srgbClr val="f87171"/>
                </a:solidFill>
                <a:latin typeface="Inter"/>
                <a:ea typeface="DejaVu Sans"/>
              </a:rPr>
              <a:t>46%</a:t>
            </a:r>
            <a:endParaRPr b="0" lang="en-US" sz="7200" spc="-1" strike="noStrike">
              <a:latin typeface="Arial"/>
            </a:endParaRPr>
          </a:p>
        </p:txBody>
      </p:sp>
      <p:sp>
        <p:nvSpPr>
          <p:cNvPr id="174" name="CustomShape 6"/>
          <p:cNvSpPr/>
          <p:nvPr/>
        </p:nvSpPr>
        <p:spPr>
          <a:xfrm>
            <a:off x="3384360" y="4330440"/>
            <a:ext cx="25588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Distrust AI accuracy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75" name="CustomShape 7"/>
          <p:cNvSpPr/>
          <p:nvPr/>
        </p:nvSpPr>
        <p:spPr>
          <a:xfrm>
            <a:off x="6432840" y="2775960"/>
            <a:ext cx="2313720" cy="1186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7200" spc="-1" strike="noStrike">
                <a:solidFill>
                  <a:srgbClr val="60a5fa"/>
                </a:solidFill>
                <a:latin typeface="Inter"/>
                <a:ea typeface="DejaVu Sans"/>
              </a:rPr>
              <a:t>30%</a:t>
            </a:r>
            <a:endParaRPr b="0" lang="en-US" sz="7200" spc="-1" strike="noStrike">
              <a:latin typeface="Arial"/>
            </a:endParaRPr>
          </a:p>
        </p:txBody>
      </p:sp>
      <p:sp>
        <p:nvSpPr>
          <p:cNvPr id="176" name="CustomShape 8"/>
          <p:cNvSpPr/>
          <p:nvPr/>
        </p:nvSpPr>
        <p:spPr>
          <a:xfrm>
            <a:off x="6310440" y="4330440"/>
            <a:ext cx="25588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Avg acceptance rate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77" name="CustomShape 9"/>
          <p:cNvSpPr/>
          <p:nvPr/>
        </p:nvSpPr>
        <p:spPr>
          <a:xfrm>
            <a:off x="9358920" y="2775960"/>
            <a:ext cx="2313720" cy="11869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7200" spc="-1" strike="noStrike">
                <a:solidFill>
                  <a:srgbClr val="4ade80"/>
                </a:solidFill>
                <a:latin typeface="Inter"/>
                <a:ea typeface="DejaVu Sans"/>
              </a:rPr>
              <a:t>88%</a:t>
            </a:r>
            <a:endParaRPr b="0" lang="en-US" sz="7200" spc="-1" strike="noStrike">
              <a:latin typeface="Arial"/>
            </a:endParaRPr>
          </a:p>
        </p:txBody>
      </p:sp>
      <p:sp>
        <p:nvSpPr>
          <p:cNvPr id="178" name="CustomShape 10"/>
          <p:cNvSpPr/>
          <p:nvPr/>
        </p:nvSpPr>
        <p:spPr>
          <a:xfrm>
            <a:off x="9236520" y="4330440"/>
            <a:ext cx="25588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Top users' acceptance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CustomShape 1"/>
          <p:cNvSpPr/>
          <p:nvPr/>
        </p:nvSpPr>
        <p:spPr>
          <a:xfrm>
            <a:off x="2440440" y="365760"/>
            <a:ext cx="730944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Same Tool, Different Results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80" name="CustomShape 2"/>
          <p:cNvSpPr/>
          <p:nvPr/>
        </p:nvSpPr>
        <p:spPr>
          <a:xfrm>
            <a:off x="457200" y="1234440"/>
            <a:ext cx="2284560" cy="5328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1" name="CustomShape 3"/>
          <p:cNvSpPr/>
          <p:nvPr/>
        </p:nvSpPr>
        <p:spPr>
          <a:xfrm>
            <a:off x="457200" y="1645920"/>
            <a:ext cx="5302080" cy="457056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2" name="CustomShape 4"/>
          <p:cNvSpPr/>
          <p:nvPr/>
        </p:nvSpPr>
        <p:spPr>
          <a:xfrm>
            <a:off x="1335600" y="1920240"/>
            <a:ext cx="354492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87171"/>
                </a:solidFill>
                <a:latin typeface="Inter"/>
                <a:ea typeface="DejaVu Sans"/>
              </a:rPr>
              <a:t>Developer 1 (Struggling)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83" name="CustomShape 5"/>
          <p:cNvSpPr/>
          <p:nvPr/>
        </p:nvSpPr>
        <p:spPr>
          <a:xfrm>
            <a:off x="731520" y="256032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Jumps straight into coding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84" name="CustomShape 6"/>
          <p:cNvSpPr/>
          <p:nvPr/>
        </p:nvSpPr>
        <p:spPr>
          <a:xfrm>
            <a:off x="731520" y="338328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Provides minimal context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85" name="CustomShape 7"/>
          <p:cNvSpPr/>
          <p:nvPr/>
        </p:nvSpPr>
        <p:spPr>
          <a:xfrm>
            <a:off x="731520" y="420624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No validation process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86" name="CustomShape 8"/>
          <p:cNvSpPr/>
          <p:nvPr/>
        </p:nvSpPr>
        <p:spPr>
          <a:xfrm>
            <a:off x="731520" y="502920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Ends up fixing code for hours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87" name="CustomShape 9"/>
          <p:cNvSpPr/>
          <p:nvPr/>
        </p:nvSpPr>
        <p:spPr>
          <a:xfrm>
            <a:off x="6400800" y="1645920"/>
            <a:ext cx="5302080" cy="457056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8" name="CustomShape 10"/>
          <p:cNvSpPr/>
          <p:nvPr/>
        </p:nvSpPr>
        <p:spPr>
          <a:xfrm>
            <a:off x="7431480" y="1920240"/>
            <a:ext cx="324036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4ade80"/>
                </a:solidFill>
                <a:latin typeface="Inter"/>
                <a:ea typeface="DejaVu Sans"/>
              </a:rPr>
              <a:t>Developer 2 (Thriving)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89" name="CustomShape 11"/>
          <p:cNvSpPr/>
          <p:nvPr/>
        </p:nvSpPr>
        <p:spPr>
          <a:xfrm>
            <a:off x="6675120" y="256032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Plans before implementing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90" name="CustomShape 12"/>
          <p:cNvSpPr/>
          <p:nvPr/>
        </p:nvSpPr>
        <p:spPr>
          <a:xfrm>
            <a:off x="6675120" y="338328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Provides rich context (context engineering)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91" name="CustomShape 13"/>
          <p:cNvSpPr/>
          <p:nvPr/>
        </p:nvSpPr>
        <p:spPr>
          <a:xfrm>
            <a:off x="6675120" y="420624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Reviews and validates output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192" name="CustomShape 14"/>
          <p:cNvSpPr/>
          <p:nvPr/>
        </p:nvSpPr>
        <p:spPr>
          <a:xfrm>
            <a:off x="6675120" y="502920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Evolves their AI layer over time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CustomShape 1"/>
          <p:cNvSpPr/>
          <p:nvPr/>
        </p:nvSpPr>
        <p:spPr>
          <a:xfrm>
            <a:off x="3486240" y="1481760"/>
            <a:ext cx="526248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3600" spc="-1" strike="noStrike">
                <a:solidFill>
                  <a:srgbClr val="cccccc"/>
                </a:solidFill>
                <a:latin typeface="Inter"/>
                <a:ea typeface="DejaVu Sans"/>
              </a:rPr>
              <a:t>THE DIFFERENCE IS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194" name="CustomShape 2"/>
          <p:cNvSpPr/>
          <p:nvPr/>
        </p:nvSpPr>
        <p:spPr>
          <a:xfrm>
            <a:off x="2377440" y="2396160"/>
            <a:ext cx="7480080" cy="1308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8000" spc="-1" strike="noStrike">
                <a:solidFill>
                  <a:srgbClr val="3b82f6"/>
                </a:solidFill>
                <a:latin typeface="Inter"/>
                <a:ea typeface="DejaVu Sans"/>
              </a:rPr>
              <a:t>THE SYSTEM</a:t>
            </a:r>
            <a:endParaRPr b="0" lang="en-US" sz="8000" spc="-1" strike="noStrike">
              <a:latin typeface="Arial"/>
            </a:endParaRPr>
          </a:p>
        </p:txBody>
      </p:sp>
      <p:sp>
        <p:nvSpPr>
          <p:cNvPr id="195" name="CustomShape 3"/>
          <p:cNvSpPr/>
          <p:nvPr/>
        </p:nvSpPr>
        <p:spPr>
          <a:xfrm>
            <a:off x="2660760" y="4042080"/>
            <a:ext cx="691308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2400" spc="-1" strike="noStrike">
                <a:solidFill>
                  <a:srgbClr val="cccccc"/>
                </a:solidFill>
                <a:latin typeface="Inter"/>
                <a:ea typeface="DejaVu Sans"/>
              </a:rPr>
              <a:t>How well you build and leverage your AI layer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96" name="CustomShape 4"/>
          <p:cNvSpPr/>
          <p:nvPr/>
        </p:nvSpPr>
        <p:spPr>
          <a:xfrm>
            <a:off x="5051520" y="5322240"/>
            <a:ext cx="2131920" cy="71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CustomShape 1"/>
          <p:cNvSpPr/>
          <p:nvPr/>
        </p:nvSpPr>
        <p:spPr>
          <a:xfrm>
            <a:off x="3814920" y="457200"/>
            <a:ext cx="4560120" cy="699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afafa"/>
                </a:solidFill>
                <a:latin typeface="Inter"/>
                <a:ea typeface="DejaVu Sans"/>
              </a:rPr>
              <a:t>The Good News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198" name="CustomShape 2"/>
          <p:cNvSpPr/>
          <p:nvPr/>
        </p:nvSpPr>
        <p:spPr>
          <a:xfrm>
            <a:off x="868680" y="196596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9" name="CustomShape 3"/>
          <p:cNvSpPr/>
          <p:nvPr/>
        </p:nvSpPr>
        <p:spPr>
          <a:xfrm>
            <a:off x="731520" y="182880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0" name="CustomShape 4"/>
          <p:cNvSpPr/>
          <p:nvPr/>
        </p:nvSpPr>
        <p:spPr>
          <a:xfrm>
            <a:off x="1005840" y="2103120"/>
            <a:ext cx="730080" cy="10836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1" name="CustomShape 5"/>
          <p:cNvSpPr/>
          <p:nvPr/>
        </p:nvSpPr>
        <p:spPr>
          <a:xfrm>
            <a:off x="1100880" y="2377440"/>
            <a:ext cx="72252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4ade80"/>
                </a:solidFill>
                <a:latin typeface="Inter"/>
                <a:ea typeface="DejaVu Sans"/>
              </a:rPr>
              <a:t>01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202" name="CustomShape 6"/>
          <p:cNvSpPr/>
          <p:nvPr/>
        </p:nvSpPr>
        <p:spPr>
          <a:xfrm>
            <a:off x="1005840" y="3200400"/>
            <a:ext cx="329040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Learn-able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03" name="CustomShape 7"/>
          <p:cNvSpPr/>
          <p:nvPr/>
        </p:nvSpPr>
        <p:spPr>
          <a:xfrm>
            <a:off x="1005840" y="4206240"/>
            <a:ext cx="3290400" cy="819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Build your AI layer with a systematic approach we’ll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cover today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04" name="CustomShape 8"/>
          <p:cNvSpPr/>
          <p:nvPr/>
        </p:nvSpPr>
        <p:spPr>
          <a:xfrm>
            <a:off x="4251960" y="233172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5" name="CustomShape 9"/>
          <p:cNvSpPr/>
          <p:nvPr/>
        </p:nvSpPr>
        <p:spPr>
          <a:xfrm>
            <a:off x="4114800" y="219456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6" name="CustomShape 10"/>
          <p:cNvSpPr/>
          <p:nvPr/>
        </p:nvSpPr>
        <p:spPr>
          <a:xfrm>
            <a:off x="4389120" y="2468880"/>
            <a:ext cx="730080" cy="10836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7" name="CustomShape 11"/>
          <p:cNvSpPr/>
          <p:nvPr/>
        </p:nvSpPr>
        <p:spPr>
          <a:xfrm>
            <a:off x="4484160" y="2743200"/>
            <a:ext cx="72252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4ade80"/>
                </a:solidFill>
                <a:latin typeface="Inter"/>
                <a:ea typeface="DejaVu Sans"/>
              </a:rPr>
              <a:t>02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208" name="CustomShape 12"/>
          <p:cNvSpPr/>
          <p:nvPr/>
        </p:nvSpPr>
        <p:spPr>
          <a:xfrm>
            <a:off x="4389120" y="3566160"/>
            <a:ext cx="329040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Repeatable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09" name="CustomShape 13"/>
          <p:cNvSpPr/>
          <p:nvPr/>
        </p:nvSpPr>
        <p:spPr>
          <a:xfrm>
            <a:off x="4389120" y="4572000"/>
            <a:ext cx="3290400" cy="576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Your system works across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Sessions and even projects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10" name="CustomShape 14"/>
          <p:cNvSpPr/>
          <p:nvPr/>
        </p:nvSpPr>
        <p:spPr>
          <a:xfrm>
            <a:off x="7635240" y="178308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1" name="CustomShape 15"/>
          <p:cNvSpPr/>
          <p:nvPr/>
        </p:nvSpPr>
        <p:spPr>
          <a:xfrm>
            <a:off x="7498080" y="164592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2" name="CustomShape 16"/>
          <p:cNvSpPr/>
          <p:nvPr/>
        </p:nvSpPr>
        <p:spPr>
          <a:xfrm>
            <a:off x="7772400" y="1920240"/>
            <a:ext cx="730080" cy="10836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3" name="CustomShape 17"/>
          <p:cNvSpPr/>
          <p:nvPr/>
        </p:nvSpPr>
        <p:spPr>
          <a:xfrm>
            <a:off x="7867440" y="2194560"/>
            <a:ext cx="72252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4ade80"/>
                </a:solidFill>
                <a:latin typeface="Inter"/>
                <a:ea typeface="DejaVu Sans"/>
              </a:rPr>
              <a:t>03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214" name="CustomShape 18"/>
          <p:cNvSpPr/>
          <p:nvPr/>
        </p:nvSpPr>
        <p:spPr>
          <a:xfrm>
            <a:off x="7772400" y="3017520"/>
            <a:ext cx="329040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Evolving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15" name="CustomShape 19"/>
          <p:cNvSpPr/>
          <p:nvPr/>
        </p:nvSpPr>
        <p:spPr>
          <a:xfrm>
            <a:off x="7772400" y="4023360"/>
            <a:ext cx="3290400" cy="576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Every bug is an opportunity to improve your AI layer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CustomShape 1"/>
          <p:cNvSpPr/>
          <p:nvPr/>
        </p:nvSpPr>
        <p:spPr>
          <a:xfrm>
            <a:off x="0" y="0"/>
            <a:ext cx="71640" cy="6856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7" name="CustomShape 2"/>
          <p:cNvSpPr/>
          <p:nvPr/>
        </p:nvSpPr>
        <p:spPr>
          <a:xfrm>
            <a:off x="1517760" y="457200"/>
            <a:ext cx="903276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Exercise 1: Establish Your Baseline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218" name="CustomShape 3"/>
          <p:cNvSpPr/>
          <p:nvPr/>
        </p:nvSpPr>
        <p:spPr>
          <a:xfrm>
            <a:off x="548640" y="1371600"/>
            <a:ext cx="2284560" cy="53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9" name="CustomShape 4"/>
          <p:cNvSpPr/>
          <p:nvPr/>
        </p:nvSpPr>
        <p:spPr>
          <a:xfrm>
            <a:off x="548640" y="1828800"/>
            <a:ext cx="1097136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Clone the repository and switch to exercise-1 branch: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20" name="CustomShape 5"/>
          <p:cNvSpPr/>
          <p:nvPr/>
        </p:nvSpPr>
        <p:spPr>
          <a:xfrm>
            <a:off x="548640" y="2560320"/>
            <a:ext cx="1097136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60a5fa"/>
                </a:solidFill>
                <a:latin typeface="Consolas"/>
                <a:ea typeface="DejaVu Sans"/>
              </a:rPr>
              <a:t>git clone https://github.com/dynamous-business/nextjs-feature-flag-exercise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21" name="CustomShape 6"/>
          <p:cNvSpPr/>
          <p:nvPr/>
        </p:nvSpPr>
        <p:spPr>
          <a:xfrm>
            <a:off x="548640" y="3108960"/>
            <a:ext cx="1097136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60a5fa"/>
                </a:solidFill>
                <a:latin typeface="Consolas"/>
                <a:ea typeface="DejaVu Sans"/>
              </a:rPr>
              <a:t>cd nextjs-feature-flag-exercise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22" name="CustomShape 7"/>
          <p:cNvSpPr/>
          <p:nvPr/>
        </p:nvSpPr>
        <p:spPr>
          <a:xfrm>
            <a:off x="548640" y="3657600"/>
            <a:ext cx="1097136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60a5fa"/>
                </a:solidFill>
                <a:latin typeface="Consolas"/>
                <a:ea typeface="DejaVu Sans"/>
              </a:rPr>
              <a:t>git checkout exercise-1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23" name="CustomShape 8"/>
          <p:cNvSpPr/>
          <p:nvPr/>
        </p:nvSpPr>
        <p:spPr>
          <a:xfrm>
            <a:off x="548640" y="4480560"/>
            <a:ext cx="1097136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Apply your current AI workflow to build the filtering feature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24" name="CustomShape 9"/>
          <p:cNvSpPr/>
          <p:nvPr/>
        </p:nvSpPr>
        <p:spPr>
          <a:xfrm>
            <a:off x="548640" y="5212080"/>
            <a:ext cx="10971360" cy="91332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5" name="CustomShape 10"/>
          <p:cNvSpPr/>
          <p:nvPr/>
        </p:nvSpPr>
        <p:spPr>
          <a:xfrm>
            <a:off x="823320" y="5487480"/>
            <a:ext cx="1042272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Goal: Build filtering for feature flags using your existing workflow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CustomShape 1"/>
          <p:cNvSpPr/>
          <p:nvPr/>
        </p:nvSpPr>
        <p:spPr>
          <a:xfrm>
            <a:off x="0" y="0"/>
            <a:ext cx="4113360" cy="6856560"/>
          </a:xfrm>
          <a:prstGeom prst="rect">
            <a:avLst/>
          </a:prstGeom>
          <a:solidFill>
            <a:srgbClr val="080a13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7" name="CustomShape 2"/>
          <p:cNvSpPr/>
          <p:nvPr/>
        </p:nvSpPr>
        <p:spPr>
          <a:xfrm>
            <a:off x="950040" y="2560320"/>
            <a:ext cx="2212920" cy="1918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12000" spc="-1" strike="noStrike">
                <a:solidFill>
                  <a:srgbClr val="3b82f6"/>
                </a:solidFill>
                <a:latin typeface="Inter"/>
                <a:ea typeface="DejaVu Sans"/>
              </a:rPr>
              <a:t>02</a:t>
            </a:r>
            <a:endParaRPr b="0" lang="en-US" sz="12000" spc="-1" strike="noStrike">
              <a:latin typeface="Arial"/>
            </a:endParaRPr>
          </a:p>
        </p:txBody>
      </p:sp>
      <p:sp>
        <p:nvSpPr>
          <p:cNvPr id="228" name="CustomShape 3"/>
          <p:cNvSpPr/>
          <p:nvPr/>
        </p:nvSpPr>
        <p:spPr>
          <a:xfrm>
            <a:off x="4114800" y="1371600"/>
            <a:ext cx="71640" cy="4113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9" name="CustomShape 4"/>
          <p:cNvSpPr/>
          <p:nvPr/>
        </p:nvSpPr>
        <p:spPr>
          <a:xfrm>
            <a:off x="4754880" y="2377440"/>
            <a:ext cx="6856560" cy="759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4400" spc="-1" strike="noStrike">
                <a:solidFill>
                  <a:srgbClr val="fafafa"/>
                </a:solidFill>
                <a:latin typeface="Inter"/>
                <a:ea typeface="DejaVu Sans"/>
              </a:rPr>
              <a:t>Setting the Stage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230" name="CustomShape 5"/>
          <p:cNvSpPr/>
          <p:nvPr/>
        </p:nvSpPr>
        <p:spPr>
          <a:xfrm>
            <a:off x="4754880" y="3840480"/>
            <a:ext cx="685656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cccccc"/>
                </a:solidFill>
                <a:latin typeface="Inter"/>
                <a:ea typeface="DejaVu Sans"/>
              </a:rPr>
              <a:t>Before the PIV Loop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CustomShape 1"/>
          <p:cNvSpPr/>
          <p:nvPr/>
        </p:nvSpPr>
        <p:spPr>
          <a:xfrm>
            <a:off x="1831680" y="457200"/>
            <a:ext cx="8526960" cy="699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afafa"/>
                </a:solidFill>
                <a:latin typeface="Inter"/>
                <a:ea typeface="DejaVu Sans"/>
              </a:rPr>
              <a:t>The PRD - Your Scope of Work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232" name="CustomShape 2"/>
          <p:cNvSpPr/>
          <p:nvPr/>
        </p:nvSpPr>
        <p:spPr>
          <a:xfrm>
            <a:off x="868680" y="196596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3" name="CustomShape 3"/>
          <p:cNvSpPr/>
          <p:nvPr/>
        </p:nvSpPr>
        <p:spPr>
          <a:xfrm>
            <a:off x="731520" y="182880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4" name="CustomShape 4"/>
          <p:cNvSpPr/>
          <p:nvPr/>
        </p:nvSpPr>
        <p:spPr>
          <a:xfrm>
            <a:off x="1005840" y="2103120"/>
            <a:ext cx="730080" cy="108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5" name="CustomShape 5"/>
          <p:cNvSpPr/>
          <p:nvPr/>
        </p:nvSpPr>
        <p:spPr>
          <a:xfrm>
            <a:off x="1100880" y="2377440"/>
            <a:ext cx="72252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3b82f6"/>
                </a:solidFill>
                <a:latin typeface="Inter"/>
                <a:ea typeface="DejaVu Sans"/>
              </a:rPr>
              <a:t>01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236" name="CustomShape 6"/>
          <p:cNvSpPr/>
          <p:nvPr/>
        </p:nvSpPr>
        <p:spPr>
          <a:xfrm>
            <a:off x="1005840" y="3200400"/>
            <a:ext cx="329040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Problem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37" name="CustomShape 7"/>
          <p:cNvSpPr/>
          <p:nvPr/>
        </p:nvSpPr>
        <p:spPr>
          <a:xfrm>
            <a:off x="1005840" y="4206240"/>
            <a:ext cx="3290400" cy="819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Who has what problem and what's the cost of not 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solving it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38" name="CustomShape 8"/>
          <p:cNvSpPr/>
          <p:nvPr/>
        </p:nvSpPr>
        <p:spPr>
          <a:xfrm>
            <a:off x="4251960" y="233172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9" name="CustomShape 9"/>
          <p:cNvSpPr/>
          <p:nvPr/>
        </p:nvSpPr>
        <p:spPr>
          <a:xfrm>
            <a:off x="4114800" y="219456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0" name="CustomShape 10"/>
          <p:cNvSpPr/>
          <p:nvPr/>
        </p:nvSpPr>
        <p:spPr>
          <a:xfrm>
            <a:off x="4389120" y="2468880"/>
            <a:ext cx="730080" cy="10836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1" name="CustomShape 11"/>
          <p:cNvSpPr/>
          <p:nvPr/>
        </p:nvSpPr>
        <p:spPr>
          <a:xfrm>
            <a:off x="4484160" y="2743200"/>
            <a:ext cx="72252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60a5fa"/>
                </a:solidFill>
                <a:latin typeface="Inter"/>
                <a:ea typeface="DejaVu Sans"/>
              </a:rPr>
              <a:t>02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242" name="CustomShape 12"/>
          <p:cNvSpPr/>
          <p:nvPr/>
        </p:nvSpPr>
        <p:spPr>
          <a:xfrm>
            <a:off x="4389120" y="3566160"/>
            <a:ext cx="329040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Success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43" name="CustomShape 13"/>
          <p:cNvSpPr/>
          <p:nvPr/>
        </p:nvSpPr>
        <p:spPr>
          <a:xfrm>
            <a:off x="4389120" y="4572000"/>
            <a:ext cx="3290400" cy="576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Measurable outcomes that 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tell you when you're done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44" name="CustomShape 14"/>
          <p:cNvSpPr/>
          <p:nvPr/>
        </p:nvSpPr>
        <p:spPr>
          <a:xfrm>
            <a:off x="7635240" y="178308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5" name="CustomShape 15"/>
          <p:cNvSpPr/>
          <p:nvPr/>
        </p:nvSpPr>
        <p:spPr>
          <a:xfrm>
            <a:off x="7498080" y="164592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6" name="CustomShape 16"/>
          <p:cNvSpPr/>
          <p:nvPr/>
        </p:nvSpPr>
        <p:spPr>
          <a:xfrm>
            <a:off x="7772400" y="1920240"/>
            <a:ext cx="730080" cy="10836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7" name="CustomShape 17"/>
          <p:cNvSpPr/>
          <p:nvPr/>
        </p:nvSpPr>
        <p:spPr>
          <a:xfrm>
            <a:off x="7867440" y="2194560"/>
            <a:ext cx="72252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0ea5e9"/>
                </a:solidFill>
                <a:latin typeface="Inter"/>
                <a:ea typeface="DejaVu Sans"/>
              </a:rPr>
              <a:t>03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248" name="CustomShape 18"/>
          <p:cNvSpPr/>
          <p:nvPr/>
        </p:nvSpPr>
        <p:spPr>
          <a:xfrm>
            <a:off x="7772400" y="3017520"/>
            <a:ext cx="329040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Phases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49" name="CustomShape 19"/>
          <p:cNvSpPr/>
          <p:nvPr/>
        </p:nvSpPr>
        <p:spPr>
          <a:xfrm>
            <a:off x="7772400" y="4023360"/>
            <a:ext cx="3290400" cy="576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Ordered roadmap of implementation phases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CustomShape 1"/>
          <p:cNvSpPr/>
          <p:nvPr/>
        </p:nvSpPr>
        <p:spPr>
          <a:xfrm>
            <a:off x="2928960" y="365760"/>
            <a:ext cx="633240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Greenfield vs Brownfield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251" name="CustomShape 2"/>
          <p:cNvSpPr/>
          <p:nvPr/>
        </p:nvSpPr>
        <p:spPr>
          <a:xfrm>
            <a:off x="457200" y="1234440"/>
            <a:ext cx="2284560" cy="5328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2" name="CustomShape 3"/>
          <p:cNvSpPr/>
          <p:nvPr/>
        </p:nvSpPr>
        <p:spPr>
          <a:xfrm>
            <a:off x="457200" y="1645920"/>
            <a:ext cx="5302080" cy="475344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3" name="CustomShape 4"/>
          <p:cNvSpPr/>
          <p:nvPr/>
        </p:nvSpPr>
        <p:spPr>
          <a:xfrm>
            <a:off x="457200" y="1645920"/>
            <a:ext cx="5302080" cy="90000"/>
          </a:xfrm>
          <a:prstGeom prst="rect">
            <a:avLst/>
          </a:prstGeom>
          <a:solidFill>
            <a:srgbClr val="22c55e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4" name="CustomShape 5"/>
          <p:cNvSpPr/>
          <p:nvPr/>
        </p:nvSpPr>
        <p:spPr>
          <a:xfrm>
            <a:off x="1296720" y="1920240"/>
            <a:ext cx="362268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22c55e"/>
                </a:solidFill>
                <a:latin typeface="Inter"/>
                <a:ea typeface="DejaVu Sans"/>
              </a:rPr>
              <a:t>Greenfield (New Project)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55" name="CustomShape 6"/>
          <p:cNvSpPr/>
          <p:nvPr/>
        </p:nvSpPr>
        <p:spPr>
          <a:xfrm>
            <a:off x="731520" y="256032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Start with template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56" name="CustomShape 7"/>
          <p:cNvSpPr/>
          <p:nvPr/>
        </p:nvSpPr>
        <p:spPr>
          <a:xfrm>
            <a:off x="731520" y="324612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Create PRD first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57" name="CustomShape 8"/>
          <p:cNvSpPr/>
          <p:nvPr/>
        </p:nvSpPr>
        <p:spPr>
          <a:xfrm>
            <a:off x="731520" y="393192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Establish global rules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58" name="CustomShape 9"/>
          <p:cNvSpPr/>
          <p:nvPr/>
        </p:nvSpPr>
        <p:spPr>
          <a:xfrm>
            <a:off x="731520" y="461772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Build on-demand context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59" name="CustomShape 10"/>
          <p:cNvSpPr/>
          <p:nvPr/>
        </p:nvSpPr>
        <p:spPr>
          <a:xfrm>
            <a:off x="731520" y="530352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Create commands as you go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60" name="CustomShape 11"/>
          <p:cNvSpPr/>
          <p:nvPr/>
        </p:nvSpPr>
        <p:spPr>
          <a:xfrm>
            <a:off x="6400800" y="1645920"/>
            <a:ext cx="5302080" cy="475344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61" name="CustomShape 12"/>
          <p:cNvSpPr/>
          <p:nvPr/>
        </p:nvSpPr>
        <p:spPr>
          <a:xfrm>
            <a:off x="6400800" y="1645920"/>
            <a:ext cx="5302080" cy="90000"/>
          </a:xfrm>
          <a:prstGeom prst="rect">
            <a:avLst/>
          </a:prstGeom>
          <a:solidFill>
            <a:srgbClr val="a1620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62" name="CustomShape 13"/>
          <p:cNvSpPr/>
          <p:nvPr/>
        </p:nvSpPr>
        <p:spPr>
          <a:xfrm>
            <a:off x="7505640" y="1920240"/>
            <a:ext cx="309240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a16207"/>
                </a:solidFill>
                <a:latin typeface="Inter"/>
                <a:ea typeface="DejaVu Sans"/>
              </a:rPr>
              <a:t>Brownfield (Existing)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63" name="CustomShape 14"/>
          <p:cNvSpPr/>
          <p:nvPr/>
        </p:nvSpPr>
        <p:spPr>
          <a:xfrm>
            <a:off x="6675120" y="256032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Understand existing codebase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64" name="CustomShape 15"/>
          <p:cNvSpPr/>
          <p:nvPr/>
        </p:nvSpPr>
        <p:spPr>
          <a:xfrm>
            <a:off x="6675120" y="324612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Extract rules from patterns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65" name="CustomShape 16"/>
          <p:cNvSpPr/>
          <p:nvPr/>
        </p:nvSpPr>
        <p:spPr>
          <a:xfrm>
            <a:off x="6675120" y="393192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Document architecture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66" name="CustomShape 17"/>
          <p:cNvSpPr/>
          <p:nvPr/>
        </p:nvSpPr>
        <p:spPr>
          <a:xfrm>
            <a:off x="6675120" y="461772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Create commands for common tasks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67" name="CustomShape 18"/>
          <p:cNvSpPr/>
          <p:nvPr/>
        </p:nvSpPr>
        <p:spPr>
          <a:xfrm>
            <a:off x="6675120" y="530352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Build AI layer incrementally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CustomShape 1"/>
          <p:cNvSpPr/>
          <p:nvPr/>
        </p:nvSpPr>
        <p:spPr>
          <a:xfrm>
            <a:off x="0" y="0"/>
            <a:ext cx="4113360" cy="6856560"/>
          </a:xfrm>
          <a:prstGeom prst="rect">
            <a:avLst/>
          </a:prstGeom>
          <a:solidFill>
            <a:srgbClr val="080a13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69" name="CustomShape 2"/>
          <p:cNvSpPr/>
          <p:nvPr/>
        </p:nvSpPr>
        <p:spPr>
          <a:xfrm>
            <a:off x="767160" y="2560320"/>
            <a:ext cx="2578680" cy="16135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10000" spc="-1" strike="noStrike">
                <a:solidFill>
                  <a:srgbClr val="3b82f6"/>
                </a:solidFill>
                <a:latin typeface="Inter"/>
                <a:ea typeface="DejaVu Sans"/>
              </a:rPr>
              <a:t>PIV</a:t>
            </a:r>
            <a:endParaRPr b="0" lang="en-US" sz="10000" spc="-1" strike="noStrike">
              <a:latin typeface="Arial"/>
            </a:endParaRPr>
          </a:p>
        </p:txBody>
      </p:sp>
      <p:sp>
        <p:nvSpPr>
          <p:cNvPr id="270" name="CustomShape 3"/>
          <p:cNvSpPr/>
          <p:nvPr/>
        </p:nvSpPr>
        <p:spPr>
          <a:xfrm>
            <a:off x="4114800" y="1371600"/>
            <a:ext cx="71640" cy="4113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71" name="CustomShape 4"/>
          <p:cNvSpPr/>
          <p:nvPr/>
        </p:nvSpPr>
        <p:spPr>
          <a:xfrm>
            <a:off x="4754880" y="2194560"/>
            <a:ext cx="6856560" cy="759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4400" spc="-1" strike="noStrike">
                <a:solidFill>
                  <a:srgbClr val="fafafa"/>
                </a:solidFill>
                <a:latin typeface="Inter"/>
                <a:ea typeface="DejaVu Sans"/>
              </a:rPr>
              <a:t>The PIV Loop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272" name="CustomShape 5"/>
          <p:cNvSpPr/>
          <p:nvPr/>
        </p:nvSpPr>
        <p:spPr>
          <a:xfrm>
            <a:off x="4754880" y="3657600"/>
            <a:ext cx="685656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400" spc="-1" strike="noStrike">
                <a:solidFill>
                  <a:srgbClr val="cccccc"/>
                </a:solidFill>
                <a:latin typeface="Inter"/>
                <a:ea typeface="DejaVu Sans"/>
              </a:rPr>
              <a:t>Plan - Implement - Validate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CustomShape 1"/>
          <p:cNvSpPr/>
          <p:nvPr/>
        </p:nvSpPr>
        <p:spPr>
          <a:xfrm>
            <a:off x="2795400" y="457200"/>
            <a:ext cx="6599160" cy="699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afafa"/>
                </a:solidFill>
                <a:latin typeface="Inter"/>
                <a:ea typeface="DejaVu Sans"/>
              </a:rPr>
              <a:t>The Core Mental Model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274" name="CustomShape 2"/>
          <p:cNvSpPr/>
          <p:nvPr/>
        </p:nvSpPr>
        <p:spPr>
          <a:xfrm>
            <a:off x="868680" y="196596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75" name="CustomShape 3"/>
          <p:cNvSpPr/>
          <p:nvPr/>
        </p:nvSpPr>
        <p:spPr>
          <a:xfrm>
            <a:off x="731520" y="182880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76" name="CustomShape 4"/>
          <p:cNvSpPr/>
          <p:nvPr/>
        </p:nvSpPr>
        <p:spPr>
          <a:xfrm>
            <a:off x="1005840" y="2103120"/>
            <a:ext cx="730080" cy="108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77" name="CustomShape 5"/>
          <p:cNvSpPr/>
          <p:nvPr/>
        </p:nvSpPr>
        <p:spPr>
          <a:xfrm>
            <a:off x="1100880" y="2377440"/>
            <a:ext cx="72252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3b82f6"/>
                </a:solidFill>
                <a:latin typeface="Inter"/>
                <a:ea typeface="DejaVu Sans"/>
              </a:rPr>
              <a:t>01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278" name="CustomShape 6"/>
          <p:cNvSpPr/>
          <p:nvPr/>
        </p:nvSpPr>
        <p:spPr>
          <a:xfrm>
            <a:off x="1005840" y="3200400"/>
            <a:ext cx="329040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Plan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79" name="CustomShape 7"/>
          <p:cNvSpPr/>
          <p:nvPr/>
        </p:nvSpPr>
        <p:spPr>
          <a:xfrm>
            <a:off x="1005840" y="4206240"/>
            <a:ext cx="3290400" cy="576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Reduce agent assumptions through explicit planning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80" name="CustomShape 8"/>
          <p:cNvSpPr/>
          <p:nvPr/>
        </p:nvSpPr>
        <p:spPr>
          <a:xfrm>
            <a:off x="4251960" y="233172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1" name="CustomShape 9"/>
          <p:cNvSpPr/>
          <p:nvPr/>
        </p:nvSpPr>
        <p:spPr>
          <a:xfrm>
            <a:off x="4114800" y="219456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2" name="CustomShape 10"/>
          <p:cNvSpPr/>
          <p:nvPr/>
        </p:nvSpPr>
        <p:spPr>
          <a:xfrm>
            <a:off x="4389120" y="2468880"/>
            <a:ext cx="730080" cy="10836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3" name="CustomShape 11"/>
          <p:cNvSpPr/>
          <p:nvPr/>
        </p:nvSpPr>
        <p:spPr>
          <a:xfrm>
            <a:off x="4484160" y="2743200"/>
            <a:ext cx="72252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60a5fa"/>
                </a:solidFill>
                <a:latin typeface="Inter"/>
                <a:ea typeface="DejaVu Sans"/>
              </a:rPr>
              <a:t>02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284" name="CustomShape 12"/>
          <p:cNvSpPr/>
          <p:nvPr/>
        </p:nvSpPr>
        <p:spPr>
          <a:xfrm>
            <a:off x="4389120" y="3566160"/>
            <a:ext cx="329040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Implement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85" name="CustomShape 13"/>
          <p:cNvSpPr/>
          <p:nvPr/>
        </p:nvSpPr>
        <p:spPr>
          <a:xfrm>
            <a:off x="4389120" y="4572000"/>
            <a:ext cx="3290400" cy="576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Trust but verify – delegate</a:t>
            </a:r>
            <a:endParaRPr b="0" lang="en-US" sz="16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the coding to the agent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86" name="CustomShape 14"/>
          <p:cNvSpPr/>
          <p:nvPr/>
        </p:nvSpPr>
        <p:spPr>
          <a:xfrm>
            <a:off x="7635240" y="178308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7" name="CustomShape 15"/>
          <p:cNvSpPr/>
          <p:nvPr/>
        </p:nvSpPr>
        <p:spPr>
          <a:xfrm>
            <a:off x="7498080" y="164592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8" name="CustomShape 16"/>
          <p:cNvSpPr/>
          <p:nvPr/>
        </p:nvSpPr>
        <p:spPr>
          <a:xfrm>
            <a:off x="7772400" y="1920240"/>
            <a:ext cx="730080" cy="10836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9" name="CustomShape 17"/>
          <p:cNvSpPr/>
          <p:nvPr/>
        </p:nvSpPr>
        <p:spPr>
          <a:xfrm>
            <a:off x="7867440" y="2194560"/>
            <a:ext cx="72252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4ade80"/>
                </a:solidFill>
                <a:latin typeface="Inter"/>
                <a:ea typeface="DejaVu Sans"/>
              </a:rPr>
              <a:t>03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290" name="CustomShape 18"/>
          <p:cNvSpPr/>
          <p:nvPr/>
        </p:nvSpPr>
        <p:spPr>
          <a:xfrm>
            <a:off x="7772400" y="3017520"/>
            <a:ext cx="329040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Validate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91" name="CustomShape 19"/>
          <p:cNvSpPr/>
          <p:nvPr/>
        </p:nvSpPr>
        <p:spPr>
          <a:xfrm>
            <a:off x="7772400" y="4023360"/>
            <a:ext cx="3290400" cy="819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Catch issues before they compound (and let the agent do the same)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CustomShape 1"/>
          <p:cNvSpPr/>
          <p:nvPr/>
        </p:nvSpPr>
        <p:spPr>
          <a:xfrm>
            <a:off x="3075120" y="365760"/>
            <a:ext cx="603972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Two Layers of Planning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293" name="CustomShape 2"/>
          <p:cNvSpPr/>
          <p:nvPr/>
        </p:nvSpPr>
        <p:spPr>
          <a:xfrm>
            <a:off x="457200" y="1234440"/>
            <a:ext cx="2284560" cy="5328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94" name="CustomShape 3"/>
          <p:cNvSpPr/>
          <p:nvPr/>
        </p:nvSpPr>
        <p:spPr>
          <a:xfrm>
            <a:off x="457200" y="1645920"/>
            <a:ext cx="5302080" cy="475344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95" name="CustomShape 4"/>
          <p:cNvSpPr/>
          <p:nvPr/>
        </p:nvSpPr>
        <p:spPr>
          <a:xfrm>
            <a:off x="1273320" y="1920240"/>
            <a:ext cx="366984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3b82f6"/>
                </a:solidFill>
                <a:latin typeface="Inter"/>
                <a:ea typeface="DejaVu Sans"/>
              </a:rPr>
              <a:t>Layer 1: Project Planning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96" name="CustomShape 5"/>
          <p:cNvSpPr/>
          <p:nvPr/>
        </p:nvSpPr>
        <p:spPr>
          <a:xfrm>
            <a:off x="731520" y="256032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Done once, updated rarely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97" name="CustomShape 6"/>
          <p:cNvSpPr/>
          <p:nvPr/>
        </p:nvSpPr>
        <p:spPr>
          <a:xfrm>
            <a:off x="731520" y="324612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Tech stack decisions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98" name="CustomShape 7"/>
          <p:cNvSpPr/>
          <p:nvPr/>
        </p:nvSpPr>
        <p:spPr>
          <a:xfrm>
            <a:off x="731520" y="393192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Architecture patterns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299" name="CustomShape 8"/>
          <p:cNvSpPr/>
          <p:nvPr/>
        </p:nvSpPr>
        <p:spPr>
          <a:xfrm>
            <a:off x="731520" y="461772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Rules: constraints + conventions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00" name="CustomShape 9"/>
          <p:cNvSpPr/>
          <p:nvPr/>
        </p:nvSpPr>
        <p:spPr>
          <a:xfrm>
            <a:off x="731520" y="530352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Creating stable resources (including PRD)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01" name="CustomShape 10"/>
          <p:cNvSpPr/>
          <p:nvPr/>
        </p:nvSpPr>
        <p:spPr>
          <a:xfrm>
            <a:off x="6400800" y="1645920"/>
            <a:ext cx="5302080" cy="475344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02" name="CustomShape 11"/>
          <p:cNvSpPr/>
          <p:nvPr/>
        </p:nvSpPr>
        <p:spPr>
          <a:xfrm>
            <a:off x="7388280" y="1920240"/>
            <a:ext cx="332712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60a5fa"/>
                </a:solidFill>
                <a:latin typeface="Inter"/>
                <a:ea typeface="DejaVu Sans"/>
              </a:rPr>
              <a:t>Layer 2: Task Planning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303" name="CustomShape 12"/>
          <p:cNvSpPr/>
          <p:nvPr/>
        </p:nvSpPr>
        <p:spPr>
          <a:xfrm>
            <a:off x="6675120" y="256032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Per feature or task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04" name="CustomShape 13"/>
          <p:cNvSpPr/>
          <p:nvPr/>
        </p:nvSpPr>
        <p:spPr>
          <a:xfrm>
            <a:off x="6675120" y="324612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Codebase analysis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05" name="CustomShape 14"/>
          <p:cNvSpPr/>
          <p:nvPr/>
        </p:nvSpPr>
        <p:spPr>
          <a:xfrm>
            <a:off x="6675120" y="393192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Implementation approach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06" name="CustomShape 15"/>
          <p:cNvSpPr/>
          <p:nvPr/>
        </p:nvSpPr>
        <p:spPr>
          <a:xfrm>
            <a:off x="6675120" y="461772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Testing strategy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07" name="CustomShape 16"/>
          <p:cNvSpPr/>
          <p:nvPr/>
        </p:nvSpPr>
        <p:spPr>
          <a:xfrm>
            <a:off x="6675120" y="530352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Integration considerations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CustomShape 1"/>
          <p:cNvSpPr/>
          <p:nvPr/>
        </p:nvSpPr>
        <p:spPr>
          <a:xfrm>
            <a:off x="4115520" y="1555200"/>
            <a:ext cx="3656160" cy="3656160"/>
          </a:xfrm>
          <a:prstGeom prst="ellipse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09" name="CustomShape 2"/>
          <p:cNvSpPr/>
          <p:nvPr/>
        </p:nvSpPr>
        <p:spPr>
          <a:xfrm>
            <a:off x="4115520" y="2652480"/>
            <a:ext cx="3656160" cy="5162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2800" spc="-1" strike="noStrike">
                <a:solidFill>
                  <a:srgbClr val="fafafa"/>
                </a:solidFill>
                <a:latin typeface="Inter"/>
                <a:ea typeface="DejaVu Sans"/>
              </a:rPr>
              <a:t>Detailed Plan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310" name="CustomShape 3"/>
          <p:cNvSpPr/>
          <p:nvPr/>
        </p:nvSpPr>
        <p:spPr>
          <a:xfrm>
            <a:off x="4115520" y="3841200"/>
            <a:ext cx="365616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fafafa"/>
                </a:solidFill>
                <a:latin typeface="Inter"/>
                <a:ea typeface="DejaVu Sans"/>
              </a:rPr>
              <a:t>Context Engineering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11" name="CustomShape 4"/>
          <p:cNvSpPr/>
          <p:nvPr/>
        </p:nvSpPr>
        <p:spPr>
          <a:xfrm>
            <a:off x="3108960" y="1554480"/>
            <a:ext cx="730080" cy="730080"/>
          </a:xfrm>
          <a:prstGeom prst="ellipse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12" name="CustomShape 5"/>
          <p:cNvSpPr/>
          <p:nvPr/>
        </p:nvSpPr>
        <p:spPr>
          <a:xfrm>
            <a:off x="2651760" y="2468880"/>
            <a:ext cx="16444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Prompts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13" name="CustomShape 6"/>
          <p:cNvSpPr/>
          <p:nvPr/>
        </p:nvSpPr>
        <p:spPr>
          <a:xfrm>
            <a:off x="7772400" y="1188720"/>
            <a:ext cx="730080" cy="730080"/>
          </a:xfrm>
          <a:prstGeom prst="ellipse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14" name="CustomShape 7"/>
          <p:cNvSpPr/>
          <p:nvPr/>
        </p:nvSpPr>
        <p:spPr>
          <a:xfrm>
            <a:off x="7315200" y="2103120"/>
            <a:ext cx="16444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RAG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15" name="CustomShape 8"/>
          <p:cNvSpPr/>
          <p:nvPr/>
        </p:nvSpPr>
        <p:spPr>
          <a:xfrm>
            <a:off x="3109680" y="4480560"/>
            <a:ext cx="730080" cy="730080"/>
          </a:xfrm>
          <a:prstGeom prst="ellipse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16" name="CustomShape 9"/>
          <p:cNvSpPr/>
          <p:nvPr/>
        </p:nvSpPr>
        <p:spPr>
          <a:xfrm>
            <a:off x="2652480" y="5394960"/>
            <a:ext cx="164448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Memory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17" name="CustomShape 10"/>
          <p:cNvSpPr/>
          <p:nvPr/>
        </p:nvSpPr>
        <p:spPr>
          <a:xfrm>
            <a:off x="8046720" y="3840480"/>
            <a:ext cx="730080" cy="730080"/>
          </a:xfrm>
          <a:prstGeom prst="ellipse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18" name="CustomShape 11"/>
          <p:cNvSpPr/>
          <p:nvPr/>
        </p:nvSpPr>
        <p:spPr>
          <a:xfrm>
            <a:off x="7589520" y="4754880"/>
            <a:ext cx="1644480" cy="576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Task Management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CustomShape 1"/>
          <p:cNvSpPr/>
          <p:nvPr/>
        </p:nvSpPr>
        <p:spPr>
          <a:xfrm>
            <a:off x="760320" y="1098720"/>
            <a:ext cx="1222560" cy="3137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0000" spc="-1" strike="noStrike">
                <a:solidFill>
                  <a:srgbClr val="3b82f6"/>
                </a:solidFill>
                <a:latin typeface="Georgia"/>
                <a:ea typeface="DejaVu Sans"/>
              </a:rPr>
              <a:t>“</a:t>
            </a:r>
            <a:endParaRPr b="0" lang="en-US" sz="20000" spc="-1" strike="noStrike">
              <a:latin typeface="Arial"/>
            </a:endParaRPr>
          </a:p>
        </p:txBody>
      </p:sp>
      <p:sp>
        <p:nvSpPr>
          <p:cNvPr id="320" name="CustomShape 2"/>
          <p:cNvSpPr/>
          <p:nvPr/>
        </p:nvSpPr>
        <p:spPr>
          <a:xfrm>
            <a:off x="915120" y="2287440"/>
            <a:ext cx="108360" cy="2284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1" name="CustomShape 3"/>
          <p:cNvSpPr/>
          <p:nvPr/>
        </p:nvSpPr>
        <p:spPr>
          <a:xfrm>
            <a:off x="1829520" y="2563920"/>
            <a:ext cx="9599760" cy="1551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3200" spc="-1" strike="noStrike">
                <a:solidFill>
                  <a:srgbClr val="fafafa"/>
                </a:solidFill>
                <a:latin typeface="Inter"/>
                <a:ea typeface="DejaVu Sans"/>
              </a:rPr>
              <a:t>Let the agent do the coding, but monitor to make sure it understands the plan and validates its work.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322" name="CustomShape 4"/>
          <p:cNvSpPr/>
          <p:nvPr/>
        </p:nvSpPr>
        <p:spPr>
          <a:xfrm>
            <a:off x="5119560" y="5030640"/>
            <a:ext cx="210492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3b82f6"/>
                </a:solidFill>
                <a:latin typeface="Inter"/>
                <a:ea typeface="DejaVu Sans"/>
              </a:rPr>
              <a:t>- Trust But Verify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CustomShape 1"/>
          <p:cNvSpPr/>
          <p:nvPr/>
        </p:nvSpPr>
        <p:spPr>
          <a:xfrm>
            <a:off x="3833280" y="365760"/>
            <a:ext cx="452340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Validation Layers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324" name="CustomShape 2"/>
          <p:cNvSpPr/>
          <p:nvPr/>
        </p:nvSpPr>
        <p:spPr>
          <a:xfrm>
            <a:off x="457200" y="1234440"/>
            <a:ext cx="2284560" cy="5328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5" name="CustomShape 3"/>
          <p:cNvSpPr/>
          <p:nvPr/>
        </p:nvSpPr>
        <p:spPr>
          <a:xfrm>
            <a:off x="274320" y="1645920"/>
            <a:ext cx="2180880" cy="438768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6" name="CustomShape 4"/>
          <p:cNvSpPr/>
          <p:nvPr/>
        </p:nvSpPr>
        <p:spPr>
          <a:xfrm>
            <a:off x="274320" y="1645920"/>
            <a:ext cx="2180880" cy="9000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7" name="CustomShape 5"/>
          <p:cNvSpPr/>
          <p:nvPr/>
        </p:nvSpPr>
        <p:spPr>
          <a:xfrm>
            <a:off x="1206000" y="1874520"/>
            <a:ext cx="317160" cy="257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4ade80"/>
                </a:solidFill>
                <a:latin typeface="Inter"/>
                <a:ea typeface="DejaVu Sans"/>
              </a:rPr>
              <a:t>AI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328" name="CustomShape 6"/>
          <p:cNvSpPr/>
          <p:nvPr/>
        </p:nvSpPr>
        <p:spPr>
          <a:xfrm>
            <a:off x="391680" y="2243160"/>
            <a:ext cx="1985040" cy="546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afafa"/>
                </a:solidFill>
                <a:latin typeface="Inter"/>
                <a:ea typeface="DejaVu Sans"/>
              </a:rPr>
              <a:t>Type Checking/Linting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29" name="CustomShape 7"/>
          <p:cNvSpPr/>
          <p:nvPr/>
        </p:nvSpPr>
        <p:spPr>
          <a:xfrm>
            <a:off x="411480" y="3108960"/>
            <a:ext cx="1906560" cy="63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cccccc"/>
                </a:solidFill>
                <a:latin typeface="Inter"/>
                <a:ea typeface="DejaVu Sans"/>
              </a:rPr>
              <a:t>AI runs linting and type checking after changes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30" name="CustomShape 8"/>
          <p:cNvSpPr/>
          <p:nvPr/>
        </p:nvSpPr>
        <p:spPr>
          <a:xfrm>
            <a:off x="2639520" y="1645920"/>
            <a:ext cx="2180880" cy="438768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1" name="CustomShape 9"/>
          <p:cNvSpPr/>
          <p:nvPr/>
        </p:nvSpPr>
        <p:spPr>
          <a:xfrm>
            <a:off x="2639520" y="1645920"/>
            <a:ext cx="2180880" cy="9000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2" name="CustomShape 10"/>
          <p:cNvSpPr/>
          <p:nvPr/>
        </p:nvSpPr>
        <p:spPr>
          <a:xfrm>
            <a:off x="3571200" y="1874520"/>
            <a:ext cx="317160" cy="257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4ade80"/>
                </a:solidFill>
                <a:latin typeface="Inter"/>
                <a:ea typeface="DejaVu Sans"/>
              </a:rPr>
              <a:t>AI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333" name="CustomShape 11"/>
          <p:cNvSpPr/>
          <p:nvPr/>
        </p:nvSpPr>
        <p:spPr>
          <a:xfrm>
            <a:off x="2776680" y="2286000"/>
            <a:ext cx="1906560" cy="317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afafa"/>
                </a:solidFill>
                <a:latin typeface="Inter"/>
                <a:ea typeface="DejaVu Sans"/>
              </a:rPr>
              <a:t>Unit Tests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34" name="CustomShape 12"/>
          <p:cNvSpPr/>
          <p:nvPr/>
        </p:nvSpPr>
        <p:spPr>
          <a:xfrm>
            <a:off x="2776680" y="3108960"/>
            <a:ext cx="1906560" cy="454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cccccc"/>
                </a:solidFill>
                <a:latin typeface="Inter"/>
                <a:ea typeface="DejaVu Sans"/>
              </a:rPr>
              <a:t>AI runs automated test suites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35" name="CustomShape 13"/>
          <p:cNvSpPr/>
          <p:nvPr/>
        </p:nvSpPr>
        <p:spPr>
          <a:xfrm>
            <a:off x="5004720" y="1645920"/>
            <a:ext cx="2180880" cy="438768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6" name="CustomShape 14"/>
          <p:cNvSpPr/>
          <p:nvPr/>
        </p:nvSpPr>
        <p:spPr>
          <a:xfrm>
            <a:off x="5004720" y="1645920"/>
            <a:ext cx="2180880" cy="9000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7" name="CustomShape 15"/>
          <p:cNvSpPr/>
          <p:nvPr/>
        </p:nvSpPr>
        <p:spPr>
          <a:xfrm>
            <a:off x="5936400" y="1874520"/>
            <a:ext cx="317160" cy="257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4ade80"/>
                </a:solidFill>
                <a:latin typeface="Inter"/>
                <a:ea typeface="DejaVu Sans"/>
              </a:rPr>
              <a:t>AI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338" name="CustomShape 16"/>
          <p:cNvSpPr/>
          <p:nvPr/>
        </p:nvSpPr>
        <p:spPr>
          <a:xfrm>
            <a:off x="5120640" y="2286000"/>
            <a:ext cx="2064960" cy="317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afafa"/>
                </a:solidFill>
                <a:latin typeface="Inter"/>
                <a:ea typeface="DejaVu Sans"/>
              </a:rPr>
              <a:t>Integration Tests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39" name="CustomShape 17"/>
          <p:cNvSpPr/>
          <p:nvPr/>
        </p:nvSpPr>
        <p:spPr>
          <a:xfrm>
            <a:off x="5141880" y="3108960"/>
            <a:ext cx="1906560" cy="454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cccccc"/>
                </a:solidFill>
                <a:latin typeface="Inter"/>
                <a:ea typeface="DejaVu Sans"/>
              </a:rPr>
              <a:t>AI validates end-to-end flows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40" name="CustomShape 18"/>
          <p:cNvSpPr/>
          <p:nvPr/>
        </p:nvSpPr>
        <p:spPr>
          <a:xfrm>
            <a:off x="7369920" y="1645920"/>
            <a:ext cx="2180880" cy="438768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1" name="CustomShape 19"/>
          <p:cNvSpPr/>
          <p:nvPr/>
        </p:nvSpPr>
        <p:spPr>
          <a:xfrm>
            <a:off x="7369920" y="1645920"/>
            <a:ext cx="2180880" cy="90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2" name="CustomShape 20"/>
          <p:cNvSpPr/>
          <p:nvPr/>
        </p:nvSpPr>
        <p:spPr>
          <a:xfrm>
            <a:off x="8127360" y="1874520"/>
            <a:ext cx="666000" cy="257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3b82f6"/>
                </a:solidFill>
                <a:latin typeface="Inter"/>
                <a:ea typeface="DejaVu Sans"/>
              </a:rPr>
              <a:t>Human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343" name="CustomShape 21"/>
          <p:cNvSpPr/>
          <p:nvPr/>
        </p:nvSpPr>
        <p:spPr>
          <a:xfrm>
            <a:off x="7507080" y="2286000"/>
            <a:ext cx="1906560" cy="317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afafa"/>
                </a:solidFill>
                <a:latin typeface="Inter"/>
                <a:ea typeface="DejaVu Sans"/>
              </a:rPr>
              <a:t>Code Review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44" name="CustomShape 22"/>
          <p:cNvSpPr/>
          <p:nvPr/>
        </p:nvSpPr>
        <p:spPr>
          <a:xfrm>
            <a:off x="7507080" y="3108960"/>
            <a:ext cx="1906560" cy="454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cccccc"/>
                </a:solidFill>
                <a:latin typeface="Inter"/>
                <a:ea typeface="DejaVu Sans"/>
              </a:rPr>
              <a:t>We inspect code quality and logic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45" name="CustomShape 23"/>
          <p:cNvSpPr/>
          <p:nvPr/>
        </p:nvSpPr>
        <p:spPr>
          <a:xfrm>
            <a:off x="9735120" y="1645920"/>
            <a:ext cx="2180880" cy="438768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6" name="CustomShape 24"/>
          <p:cNvSpPr/>
          <p:nvPr/>
        </p:nvSpPr>
        <p:spPr>
          <a:xfrm>
            <a:off x="9735120" y="1645920"/>
            <a:ext cx="2180880" cy="90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7" name="CustomShape 25"/>
          <p:cNvSpPr/>
          <p:nvPr/>
        </p:nvSpPr>
        <p:spPr>
          <a:xfrm>
            <a:off x="10492560" y="1874520"/>
            <a:ext cx="666000" cy="257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rgbClr val="3b82f6"/>
                </a:solidFill>
                <a:latin typeface="Inter"/>
                <a:ea typeface="DejaVu Sans"/>
              </a:rPr>
              <a:t>Human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348" name="CustomShape 26"/>
          <p:cNvSpPr/>
          <p:nvPr/>
        </p:nvSpPr>
        <p:spPr>
          <a:xfrm>
            <a:off x="9872280" y="2286000"/>
            <a:ext cx="1906560" cy="317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afafa"/>
                </a:solidFill>
                <a:latin typeface="Inter"/>
                <a:ea typeface="DejaVu Sans"/>
              </a:rPr>
              <a:t>Manual Tests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349" name="CustomShape 27"/>
          <p:cNvSpPr/>
          <p:nvPr/>
        </p:nvSpPr>
        <p:spPr>
          <a:xfrm>
            <a:off x="9872280" y="3108960"/>
            <a:ext cx="1906560" cy="454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cccccc"/>
                </a:solidFill>
                <a:latin typeface="Inter"/>
                <a:ea typeface="DejaVu Sans"/>
              </a:rPr>
              <a:t>We verify through hands-on testing</a:t>
            </a:r>
            <a:endParaRPr b="0" lang="en-US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CustomShape 1"/>
          <p:cNvSpPr/>
          <p:nvPr/>
        </p:nvSpPr>
        <p:spPr>
          <a:xfrm>
            <a:off x="0" y="0"/>
            <a:ext cx="71640" cy="685728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1" name="CustomShape 2"/>
          <p:cNvSpPr/>
          <p:nvPr/>
        </p:nvSpPr>
        <p:spPr>
          <a:xfrm>
            <a:off x="1517760" y="457200"/>
            <a:ext cx="9033480" cy="63936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Exercise 2: Apply the PIV Loop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352" name="CustomShape 3"/>
          <p:cNvSpPr/>
          <p:nvPr/>
        </p:nvSpPr>
        <p:spPr>
          <a:xfrm>
            <a:off x="548640" y="1371600"/>
            <a:ext cx="2285280" cy="5400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3" name="CustomShape 4"/>
          <p:cNvSpPr/>
          <p:nvPr/>
        </p:nvSpPr>
        <p:spPr>
          <a:xfrm>
            <a:off x="548640" y="1828800"/>
            <a:ext cx="10972080" cy="39240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Switch to the exercise-2 branch: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354" name="CustomShape 5"/>
          <p:cNvSpPr/>
          <p:nvPr/>
        </p:nvSpPr>
        <p:spPr>
          <a:xfrm>
            <a:off x="548640" y="2560320"/>
            <a:ext cx="10972080" cy="36504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60a5fa"/>
                </a:solidFill>
                <a:latin typeface="Consolas"/>
                <a:ea typeface="DejaVu Sans"/>
              </a:rPr>
              <a:t>git checkout exercise-2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55" name="CustomShape 6"/>
          <p:cNvSpPr/>
          <p:nvPr/>
        </p:nvSpPr>
        <p:spPr>
          <a:xfrm>
            <a:off x="548640" y="3291840"/>
            <a:ext cx="10972080" cy="36504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Work with your coding agent to create a plan, then validate it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56" name="CustomShape 7"/>
          <p:cNvSpPr/>
          <p:nvPr/>
        </p:nvSpPr>
        <p:spPr>
          <a:xfrm>
            <a:off x="548640" y="3749040"/>
            <a:ext cx="10972080" cy="36504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Implement the plan in a NEW context window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57" name="CustomShape 8"/>
          <p:cNvSpPr/>
          <p:nvPr/>
        </p:nvSpPr>
        <p:spPr>
          <a:xfrm>
            <a:off x="548640" y="4206240"/>
            <a:ext cx="10972080" cy="36504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Include validation steps in your plan, then validate yourself after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58" name="CustomShape 9"/>
          <p:cNvSpPr/>
          <p:nvPr/>
        </p:nvSpPr>
        <p:spPr>
          <a:xfrm>
            <a:off x="548640" y="4663440"/>
            <a:ext cx="10972080" cy="36504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You can use commands for this exercise - we'll also cover them more next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59" name="CustomShape 10"/>
          <p:cNvSpPr/>
          <p:nvPr/>
        </p:nvSpPr>
        <p:spPr>
          <a:xfrm>
            <a:off x="548640" y="5394960"/>
            <a:ext cx="10972080" cy="913680"/>
          </a:xfrm>
          <a:prstGeom prst="rect">
            <a:avLst/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0" name="CustomShape 11"/>
          <p:cNvSpPr/>
          <p:nvPr/>
        </p:nvSpPr>
        <p:spPr>
          <a:xfrm>
            <a:off x="822960" y="5669280"/>
            <a:ext cx="10423440" cy="36504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Goal: Build the same filtering feature using a single PIV loop (Plan → Implement → Validate)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CustomShape 1"/>
          <p:cNvSpPr/>
          <p:nvPr/>
        </p:nvSpPr>
        <p:spPr>
          <a:xfrm>
            <a:off x="0" y="0"/>
            <a:ext cx="4113360" cy="6856560"/>
          </a:xfrm>
          <a:prstGeom prst="rect">
            <a:avLst/>
          </a:prstGeom>
          <a:solidFill>
            <a:srgbClr val="080a13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2" name="CustomShape 2"/>
          <p:cNvSpPr/>
          <p:nvPr/>
        </p:nvSpPr>
        <p:spPr>
          <a:xfrm>
            <a:off x="950040" y="2560320"/>
            <a:ext cx="2212920" cy="1918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12000" spc="-1" strike="noStrike">
                <a:solidFill>
                  <a:srgbClr val="3b82f6"/>
                </a:solidFill>
                <a:latin typeface="Inter"/>
                <a:ea typeface="DejaVu Sans"/>
              </a:rPr>
              <a:t>03</a:t>
            </a:r>
            <a:endParaRPr b="0" lang="en-US" sz="12000" spc="-1" strike="noStrike">
              <a:latin typeface="Arial"/>
            </a:endParaRPr>
          </a:p>
        </p:txBody>
      </p:sp>
      <p:sp>
        <p:nvSpPr>
          <p:cNvPr id="363" name="CustomShape 3"/>
          <p:cNvSpPr/>
          <p:nvPr/>
        </p:nvSpPr>
        <p:spPr>
          <a:xfrm>
            <a:off x="4114800" y="1371600"/>
            <a:ext cx="71640" cy="4113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4" name="CustomShape 4"/>
          <p:cNvSpPr/>
          <p:nvPr/>
        </p:nvSpPr>
        <p:spPr>
          <a:xfrm>
            <a:off x="4754880" y="2377440"/>
            <a:ext cx="6856560" cy="759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4400" spc="-1" strike="noStrike">
                <a:solidFill>
                  <a:srgbClr val="fafafa"/>
                </a:solidFill>
                <a:latin typeface="Inter"/>
                <a:ea typeface="DejaVu Sans"/>
              </a:rPr>
              <a:t>Foundations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365" name="CustomShape 5"/>
          <p:cNvSpPr/>
          <p:nvPr/>
        </p:nvSpPr>
        <p:spPr>
          <a:xfrm>
            <a:off x="4754880" y="3840480"/>
            <a:ext cx="685656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cccccc"/>
                </a:solidFill>
                <a:latin typeface="Inter"/>
                <a:ea typeface="DejaVu Sans"/>
              </a:rPr>
              <a:t>Building Your AI Layer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CustomShape 1"/>
          <p:cNvSpPr/>
          <p:nvPr/>
        </p:nvSpPr>
        <p:spPr>
          <a:xfrm>
            <a:off x="0" y="0"/>
            <a:ext cx="71640" cy="6856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7" name="CustomShape 2"/>
          <p:cNvSpPr/>
          <p:nvPr/>
        </p:nvSpPr>
        <p:spPr>
          <a:xfrm>
            <a:off x="4373640" y="457200"/>
            <a:ext cx="332100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Global Rules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368" name="CustomShape 3"/>
          <p:cNvSpPr/>
          <p:nvPr/>
        </p:nvSpPr>
        <p:spPr>
          <a:xfrm>
            <a:off x="548640" y="1371600"/>
            <a:ext cx="2284560" cy="53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9" name="CustomShape 4"/>
          <p:cNvSpPr/>
          <p:nvPr/>
        </p:nvSpPr>
        <p:spPr>
          <a:xfrm>
            <a:off x="548640" y="1965960"/>
            <a:ext cx="108360" cy="108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0" name="CustomShape 5"/>
          <p:cNvSpPr/>
          <p:nvPr/>
        </p:nvSpPr>
        <p:spPr>
          <a:xfrm>
            <a:off x="914400" y="1828800"/>
            <a:ext cx="1051416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Your day 1 onboarding for AI coding assistants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371" name="CustomShape 6"/>
          <p:cNvSpPr/>
          <p:nvPr/>
        </p:nvSpPr>
        <p:spPr>
          <a:xfrm>
            <a:off x="548640" y="3063240"/>
            <a:ext cx="108360" cy="108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2" name="CustomShape 7"/>
          <p:cNvSpPr/>
          <p:nvPr/>
        </p:nvSpPr>
        <p:spPr>
          <a:xfrm>
            <a:off x="914400" y="2926080"/>
            <a:ext cx="1051416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AGENTS.md becoming universal standard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373" name="CustomShape 8"/>
          <p:cNvSpPr/>
          <p:nvPr/>
        </p:nvSpPr>
        <p:spPr>
          <a:xfrm>
            <a:off x="548640" y="4160520"/>
            <a:ext cx="108360" cy="108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4" name="CustomShape 9"/>
          <p:cNvSpPr/>
          <p:nvPr/>
        </p:nvSpPr>
        <p:spPr>
          <a:xfrm>
            <a:off x="914400" y="4023360"/>
            <a:ext cx="1051416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Auto-loaded every session - no manual context setup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375" name="CustomShape 10"/>
          <p:cNvSpPr/>
          <p:nvPr/>
        </p:nvSpPr>
        <p:spPr>
          <a:xfrm>
            <a:off x="548640" y="5257800"/>
            <a:ext cx="108360" cy="108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6" name="CustomShape 11"/>
          <p:cNvSpPr/>
          <p:nvPr/>
        </p:nvSpPr>
        <p:spPr>
          <a:xfrm>
            <a:off x="914400" y="5120640"/>
            <a:ext cx="1051416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The stable constraints + conventions that apply to ANY task</a:t>
            </a:r>
            <a:endParaRPr b="0" lang="en-US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CustomShape 1"/>
          <p:cNvSpPr/>
          <p:nvPr/>
        </p:nvSpPr>
        <p:spPr>
          <a:xfrm>
            <a:off x="-1828800" y="3657600"/>
            <a:ext cx="5484960" cy="3656160"/>
          </a:xfrm>
          <a:prstGeom prst="parallelogram">
            <a:avLst>
              <a:gd name="adj" fmla="val 25000"/>
            </a:avLst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8" name="CustomShape 2"/>
          <p:cNvSpPr/>
          <p:nvPr/>
        </p:nvSpPr>
        <p:spPr>
          <a:xfrm>
            <a:off x="-2743200" y="5029200"/>
            <a:ext cx="4570560" cy="2741760"/>
          </a:xfrm>
          <a:prstGeom prst="parallelogram">
            <a:avLst>
              <a:gd name="adj" fmla="val 25000"/>
            </a:avLst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9" name="CustomShape 3"/>
          <p:cNvSpPr/>
          <p:nvPr/>
        </p:nvSpPr>
        <p:spPr>
          <a:xfrm>
            <a:off x="4114800" y="1828800"/>
            <a:ext cx="7588080" cy="1673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r">
              <a:lnSpc>
                <a:spcPct val="100000"/>
              </a:lnSpc>
            </a:pPr>
            <a:r>
              <a:rPr b="1" lang="en-US" sz="5200" spc="-1" strike="noStrike">
                <a:solidFill>
                  <a:srgbClr val="fafafa"/>
                </a:solidFill>
                <a:latin typeface="Inter"/>
                <a:ea typeface="DejaVu Sans"/>
              </a:rPr>
              <a:t>The Context Loading Tax</a:t>
            </a:r>
            <a:endParaRPr b="0" lang="en-US" sz="5200" spc="-1" strike="noStrike">
              <a:latin typeface="Arial"/>
            </a:endParaRPr>
          </a:p>
        </p:txBody>
      </p:sp>
      <p:sp>
        <p:nvSpPr>
          <p:cNvPr id="380" name="CustomShape 4"/>
          <p:cNvSpPr/>
          <p:nvPr/>
        </p:nvSpPr>
        <p:spPr>
          <a:xfrm>
            <a:off x="4114800" y="3840480"/>
            <a:ext cx="758808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r">
              <a:lnSpc>
                <a:spcPct val="100000"/>
              </a:lnSpc>
            </a:pPr>
            <a:r>
              <a:rPr b="0" lang="en-US" sz="2400" spc="-1" strike="noStrike">
                <a:solidFill>
                  <a:srgbClr val="cccccc"/>
                </a:solidFill>
                <a:latin typeface="Inter"/>
                <a:ea typeface="DejaVu Sans"/>
              </a:rPr>
              <a:t>5-10 min EVERY session vs 30-60 min ONCE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381" name="CustomShape 5"/>
          <p:cNvSpPr/>
          <p:nvPr/>
        </p:nvSpPr>
        <p:spPr>
          <a:xfrm>
            <a:off x="11277360" y="0"/>
            <a:ext cx="912960" cy="912960"/>
          </a:xfrm>
          <a:prstGeom prst="rtTriangle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CustomShape 1"/>
          <p:cNvSpPr/>
          <p:nvPr/>
        </p:nvSpPr>
        <p:spPr>
          <a:xfrm>
            <a:off x="3067560" y="365760"/>
            <a:ext cx="605520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What to Include vs NOT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383" name="CustomShape 2"/>
          <p:cNvSpPr/>
          <p:nvPr/>
        </p:nvSpPr>
        <p:spPr>
          <a:xfrm>
            <a:off x="457200" y="1234440"/>
            <a:ext cx="2284560" cy="5328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84" name="CustomShape 3"/>
          <p:cNvSpPr/>
          <p:nvPr/>
        </p:nvSpPr>
        <p:spPr>
          <a:xfrm>
            <a:off x="457200" y="1645920"/>
            <a:ext cx="5302080" cy="457056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85" name="CustomShape 4"/>
          <p:cNvSpPr/>
          <p:nvPr/>
        </p:nvSpPr>
        <p:spPr>
          <a:xfrm>
            <a:off x="1419480" y="1920240"/>
            <a:ext cx="337752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4ade80"/>
                </a:solidFill>
                <a:latin typeface="Inter"/>
                <a:ea typeface="DejaVu Sans"/>
              </a:rPr>
              <a:t>Include in Global Rules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386" name="CustomShape 5"/>
          <p:cNvSpPr/>
          <p:nvPr/>
        </p:nvSpPr>
        <p:spPr>
          <a:xfrm>
            <a:off x="731520" y="256032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Tech stack &amp; architecture overview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87" name="CustomShape 6"/>
          <p:cNvSpPr/>
          <p:nvPr/>
        </p:nvSpPr>
        <p:spPr>
          <a:xfrm>
            <a:off x="731520" y="338328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Code style conventions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88" name="CustomShape 7"/>
          <p:cNvSpPr/>
          <p:nvPr/>
        </p:nvSpPr>
        <p:spPr>
          <a:xfrm>
            <a:off x="731520" y="420624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Testing/logging requirements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89" name="CustomShape 8"/>
          <p:cNvSpPr/>
          <p:nvPr/>
        </p:nvSpPr>
        <p:spPr>
          <a:xfrm>
            <a:off x="731520" y="502920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Common misconceptions you’ve seen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90" name="CustomShape 9"/>
          <p:cNvSpPr/>
          <p:nvPr/>
        </p:nvSpPr>
        <p:spPr>
          <a:xfrm>
            <a:off x="6400800" y="1645920"/>
            <a:ext cx="5302080" cy="457056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91" name="CustomShape 10"/>
          <p:cNvSpPr/>
          <p:nvPr/>
        </p:nvSpPr>
        <p:spPr>
          <a:xfrm>
            <a:off x="8047440" y="1920240"/>
            <a:ext cx="200880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87171"/>
                </a:solidFill>
                <a:latin typeface="Inter"/>
                <a:ea typeface="DejaVu Sans"/>
              </a:rPr>
              <a:t>Don't Include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392" name="CustomShape 11"/>
          <p:cNvSpPr/>
          <p:nvPr/>
        </p:nvSpPr>
        <p:spPr>
          <a:xfrm>
            <a:off x="6675120" y="256032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Universal knowledge (language basics)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93" name="CustomShape 12"/>
          <p:cNvSpPr/>
          <p:nvPr/>
        </p:nvSpPr>
        <p:spPr>
          <a:xfrm>
            <a:off x="6675120" y="338328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Detailed workflows (use commands/skills)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94" name="CustomShape 13"/>
          <p:cNvSpPr/>
          <p:nvPr/>
        </p:nvSpPr>
        <p:spPr>
          <a:xfrm>
            <a:off x="6675120" y="420624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Task-specific details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95" name="CustomShape 14"/>
          <p:cNvSpPr/>
          <p:nvPr/>
        </p:nvSpPr>
        <p:spPr>
          <a:xfrm>
            <a:off x="6675120" y="502920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Temporary instructions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CustomShape 1"/>
          <p:cNvSpPr/>
          <p:nvPr/>
        </p:nvSpPr>
        <p:spPr>
          <a:xfrm>
            <a:off x="3235320" y="457200"/>
            <a:ext cx="5719680" cy="699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afafa"/>
                </a:solidFill>
                <a:latin typeface="Inter"/>
                <a:ea typeface="DejaVu Sans"/>
              </a:rPr>
              <a:t>On-Demand Context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397" name="CustomShape 2"/>
          <p:cNvSpPr/>
          <p:nvPr/>
        </p:nvSpPr>
        <p:spPr>
          <a:xfrm>
            <a:off x="868680" y="196596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98" name="CustomShape 3"/>
          <p:cNvSpPr/>
          <p:nvPr/>
        </p:nvSpPr>
        <p:spPr>
          <a:xfrm>
            <a:off x="731520" y="182880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99" name="CustomShape 4"/>
          <p:cNvSpPr/>
          <p:nvPr/>
        </p:nvSpPr>
        <p:spPr>
          <a:xfrm>
            <a:off x="1005840" y="2103120"/>
            <a:ext cx="730080" cy="108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00" name="CustomShape 5"/>
          <p:cNvSpPr/>
          <p:nvPr/>
        </p:nvSpPr>
        <p:spPr>
          <a:xfrm>
            <a:off x="1100880" y="2377440"/>
            <a:ext cx="72252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3b82f6"/>
                </a:solidFill>
                <a:latin typeface="Inter"/>
                <a:ea typeface="DejaVu Sans"/>
              </a:rPr>
              <a:t>01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401" name="CustomShape 6"/>
          <p:cNvSpPr/>
          <p:nvPr/>
        </p:nvSpPr>
        <p:spPr>
          <a:xfrm>
            <a:off x="1005840" y="3200400"/>
            <a:ext cx="329040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Task Rules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02" name="CustomShape 7"/>
          <p:cNvSpPr/>
          <p:nvPr/>
        </p:nvSpPr>
        <p:spPr>
          <a:xfrm>
            <a:off x="960840" y="4206240"/>
            <a:ext cx="3290400" cy="576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Frontend best practices, API patterns, DB conventions, etc.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03" name="CustomShape 8"/>
          <p:cNvSpPr/>
          <p:nvPr/>
        </p:nvSpPr>
        <p:spPr>
          <a:xfrm>
            <a:off x="4251960" y="233172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04" name="CustomShape 9"/>
          <p:cNvSpPr/>
          <p:nvPr/>
        </p:nvSpPr>
        <p:spPr>
          <a:xfrm>
            <a:off x="4114800" y="219456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05" name="CustomShape 10"/>
          <p:cNvSpPr/>
          <p:nvPr/>
        </p:nvSpPr>
        <p:spPr>
          <a:xfrm>
            <a:off x="4389120" y="2468880"/>
            <a:ext cx="730080" cy="10836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06" name="CustomShape 11"/>
          <p:cNvSpPr/>
          <p:nvPr/>
        </p:nvSpPr>
        <p:spPr>
          <a:xfrm>
            <a:off x="4484160" y="2743200"/>
            <a:ext cx="72252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60a5fa"/>
                </a:solidFill>
                <a:latin typeface="Inter"/>
                <a:ea typeface="DejaVu Sans"/>
              </a:rPr>
              <a:t>02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407" name="CustomShape 12"/>
          <p:cNvSpPr/>
          <p:nvPr/>
        </p:nvSpPr>
        <p:spPr>
          <a:xfrm>
            <a:off x="4389120" y="3566160"/>
            <a:ext cx="329040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Referenced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08" name="CustomShape 13"/>
          <p:cNvSpPr/>
          <p:nvPr/>
        </p:nvSpPr>
        <p:spPr>
          <a:xfrm>
            <a:off x="4389120" y="4572000"/>
            <a:ext cx="3290400" cy="819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Paths in AGENTS.md or commands to load when relevant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09" name="CustomShape 14"/>
          <p:cNvSpPr/>
          <p:nvPr/>
        </p:nvSpPr>
        <p:spPr>
          <a:xfrm>
            <a:off x="7635240" y="178308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0" name="CustomShape 15"/>
          <p:cNvSpPr/>
          <p:nvPr/>
        </p:nvSpPr>
        <p:spPr>
          <a:xfrm>
            <a:off x="7498080" y="164592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1" name="CustomShape 16"/>
          <p:cNvSpPr/>
          <p:nvPr/>
        </p:nvSpPr>
        <p:spPr>
          <a:xfrm>
            <a:off x="7772400" y="1920240"/>
            <a:ext cx="730080" cy="10836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2" name="CustomShape 17"/>
          <p:cNvSpPr/>
          <p:nvPr/>
        </p:nvSpPr>
        <p:spPr>
          <a:xfrm>
            <a:off x="7867440" y="2194560"/>
            <a:ext cx="72252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0ea5e9"/>
                </a:solidFill>
                <a:latin typeface="Inter"/>
                <a:ea typeface="DejaVu Sans"/>
              </a:rPr>
              <a:t>03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413" name="CustomShape 18"/>
          <p:cNvSpPr/>
          <p:nvPr/>
        </p:nvSpPr>
        <p:spPr>
          <a:xfrm>
            <a:off x="7772400" y="3017520"/>
            <a:ext cx="329040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Via Skills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14" name="CustomShape 19"/>
          <p:cNvSpPr/>
          <p:nvPr/>
        </p:nvSpPr>
        <p:spPr>
          <a:xfrm>
            <a:off x="7772400" y="4023360"/>
            <a:ext cx="3290400" cy="576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Progressive disclosure keeps context focused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CustomShape 1"/>
          <p:cNvSpPr/>
          <p:nvPr/>
        </p:nvSpPr>
        <p:spPr>
          <a:xfrm>
            <a:off x="2218680" y="365760"/>
            <a:ext cx="775260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Skills - Progressive Disclosure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416" name="CustomShape 2"/>
          <p:cNvSpPr/>
          <p:nvPr/>
        </p:nvSpPr>
        <p:spPr>
          <a:xfrm>
            <a:off x="457200" y="1234440"/>
            <a:ext cx="2284560" cy="5328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7" name="CustomShape 3"/>
          <p:cNvSpPr/>
          <p:nvPr/>
        </p:nvSpPr>
        <p:spPr>
          <a:xfrm>
            <a:off x="457200" y="1645920"/>
            <a:ext cx="2612160" cy="438768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8" name="CustomShape 4"/>
          <p:cNvSpPr/>
          <p:nvPr/>
        </p:nvSpPr>
        <p:spPr>
          <a:xfrm>
            <a:off x="457200" y="1645920"/>
            <a:ext cx="2612160" cy="90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19" name="CustomShape 5"/>
          <p:cNvSpPr/>
          <p:nvPr/>
        </p:nvSpPr>
        <p:spPr>
          <a:xfrm>
            <a:off x="1432440" y="1874520"/>
            <a:ext cx="661680" cy="272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3b82f6"/>
                </a:solidFill>
                <a:latin typeface="Inter"/>
                <a:ea typeface="DejaVu Sans"/>
              </a:rPr>
              <a:t>Tier 1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420" name="CustomShape 6"/>
          <p:cNvSpPr/>
          <p:nvPr/>
        </p:nvSpPr>
        <p:spPr>
          <a:xfrm>
            <a:off x="640080" y="2286000"/>
            <a:ext cx="2246400" cy="317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afafa"/>
                </a:solidFill>
                <a:latin typeface="Inter"/>
                <a:ea typeface="DejaVu Sans"/>
              </a:rPr>
              <a:t>YAML Frontmatter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421" name="CustomShape 7"/>
          <p:cNvSpPr/>
          <p:nvPr/>
        </p:nvSpPr>
        <p:spPr>
          <a:xfrm>
            <a:off x="640080" y="3108960"/>
            <a:ext cx="2246400" cy="63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cccccc"/>
                </a:solidFill>
                <a:latin typeface="Inter"/>
                <a:ea typeface="DejaVu Sans"/>
              </a:rPr>
              <a:t>Description loaded at session start - agent knows capabilities (~100 tokens)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422" name="CustomShape 8"/>
          <p:cNvSpPr/>
          <p:nvPr/>
        </p:nvSpPr>
        <p:spPr>
          <a:xfrm>
            <a:off x="3345120" y="1645920"/>
            <a:ext cx="2612160" cy="438768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3" name="CustomShape 9"/>
          <p:cNvSpPr/>
          <p:nvPr/>
        </p:nvSpPr>
        <p:spPr>
          <a:xfrm>
            <a:off x="3345120" y="1645920"/>
            <a:ext cx="2612160" cy="9000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4" name="CustomShape 10"/>
          <p:cNvSpPr/>
          <p:nvPr/>
        </p:nvSpPr>
        <p:spPr>
          <a:xfrm>
            <a:off x="4320360" y="1874520"/>
            <a:ext cx="661680" cy="272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60a5fa"/>
                </a:solidFill>
                <a:latin typeface="Inter"/>
                <a:ea typeface="DejaVu Sans"/>
              </a:rPr>
              <a:t>Tier 2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425" name="CustomShape 11"/>
          <p:cNvSpPr/>
          <p:nvPr/>
        </p:nvSpPr>
        <p:spPr>
          <a:xfrm>
            <a:off x="3528000" y="2286000"/>
            <a:ext cx="2246400" cy="317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afafa"/>
                </a:solidFill>
                <a:latin typeface="Inter"/>
                <a:ea typeface="DejaVu Sans"/>
              </a:rPr>
              <a:t>SKILL.md Content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426" name="CustomShape 12"/>
          <p:cNvSpPr/>
          <p:nvPr/>
        </p:nvSpPr>
        <p:spPr>
          <a:xfrm>
            <a:off x="3528000" y="3108960"/>
            <a:ext cx="2246400" cy="63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cccccc"/>
                </a:solidFill>
                <a:latin typeface="Inter"/>
                <a:ea typeface="DejaVu Sans"/>
              </a:rPr>
              <a:t>Full instructions load only when skill invoked (~500-5k tokens)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427" name="CustomShape 13"/>
          <p:cNvSpPr/>
          <p:nvPr/>
        </p:nvSpPr>
        <p:spPr>
          <a:xfrm>
            <a:off x="6233040" y="1645920"/>
            <a:ext cx="2612160" cy="438768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8" name="CustomShape 14"/>
          <p:cNvSpPr/>
          <p:nvPr/>
        </p:nvSpPr>
        <p:spPr>
          <a:xfrm>
            <a:off x="6233040" y="1645920"/>
            <a:ext cx="2612160" cy="9000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29" name="CustomShape 15"/>
          <p:cNvSpPr/>
          <p:nvPr/>
        </p:nvSpPr>
        <p:spPr>
          <a:xfrm>
            <a:off x="7208280" y="1874520"/>
            <a:ext cx="661680" cy="272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0ea5e9"/>
                </a:solidFill>
                <a:latin typeface="Inter"/>
                <a:ea typeface="DejaVu Sans"/>
              </a:rPr>
              <a:t>Tier 3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430" name="CustomShape 16"/>
          <p:cNvSpPr/>
          <p:nvPr/>
        </p:nvSpPr>
        <p:spPr>
          <a:xfrm>
            <a:off x="6415920" y="2286000"/>
            <a:ext cx="2246400" cy="317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afafa"/>
                </a:solidFill>
                <a:latin typeface="Inter"/>
                <a:ea typeface="DejaVu Sans"/>
              </a:rPr>
              <a:t>Reference Docs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431" name="CustomShape 17"/>
          <p:cNvSpPr/>
          <p:nvPr/>
        </p:nvSpPr>
        <p:spPr>
          <a:xfrm>
            <a:off x="6415920" y="3108960"/>
            <a:ext cx="2246400" cy="637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cccccc"/>
                </a:solidFill>
                <a:latin typeface="Inter"/>
                <a:ea typeface="DejaVu Sans"/>
              </a:rPr>
              <a:t>Scripts and templates load on-demand - lazy loading (0 until needed)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432" name="CustomShape 18"/>
          <p:cNvSpPr/>
          <p:nvPr/>
        </p:nvSpPr>
        <p:spPr>
          <a:xfrm>
            <a:off x="9120960" y="1645920"/>
            <a:ext cx="2612160" cy="438768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3" name="CustomShape 19"/>
          <p:cNvSpPr/>
          <p:nvPr/>
        </p:nvSpPr>
        <p:spPr>
          <a:xfrm>
            <a:off x="9120960" y="1645920"/>
            <a:ext cx="2612160" cy="9000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4" name="CustomShape 20"/>
          <p:cNvSpPr/>
          <p:nvPr/>
        </p:nvSpPr>
        <p:spPr>
          <a:xfrm>
            <a:off x="10072440" y="1874520"/>
            <a:ext cx="708840" cy="272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4ade80"/>
                </a:solidFill>
                <a:latin typeface="Inter"/>
                <a:ea typeface="DejaVu Sans"/>
              </a:rPr>
              <a:t>Result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435" name="CustomShape 21"/>
          <p:cNvSpPr/>
          <p:nvPr/>
        </p:nvSpPr>
        <p:spPr>
          <a:xfrm>
            <a:off x="9303840" y="2286000"/>
            <a:ext cx="2246400" cy="317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rgbClr val="fafafa"/>
                </a:solidFill>
                <a:latin typeface="Inter"/>
                <a:ea typeface="DejaVu Sans"/>
              </a:rPr>
              <a:t>Focused Context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436" name="CustomShape 22"/>
          <p:cNvSpPr/>
          <p:nvPr/>
        </p:nvSpPr>
        <p:spPr>
          <a:xfrm>
            <a:off x="9303840" y="3108960"/>
            <a:ext cx="2246400" cy="454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rgbClr val="cccccc"/>
                </a:solidFill>
                <a:latin typeface="Inter"/>
                <a:ea typeface="DejaVu Sans"/>
              </a:rPr>
              <a:t>Maximum tokens for actual work, not instructions</a:t>
            </a:r>
            <a:endParaRPr b="0" lang="en-US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CustomShape 1"/>
          <p:cNvSpPr/>
          <p:nvPr/>
        </p:nvSpPr>
        <p:spPr>
          <a:xfrm>
            <a:off x="2286000" y="1573560"/>
            <a:ext cx="7595640" cy="5162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2800" spc="-1" strike="noStrike">
                <a:solidFill>
                  <a:srgbClr val="cccccc"/>
                </a:solidFill>
                <a:latin typeface="Inter"/>
                <a:ea typeface="DejaVu Sans"/>
              </a:rPr>
              <a:t>PACKAGED PROCESSES THAT DEFINE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438" name="CustomShape 2"/>
          <p:cNvSpPr/>
          <p:nvPr/>
        </p:nvSpPr>
        <p:spPr>
          <a:xfrm>
            <a:off x="2292120" y="2487960"/>
            <a:ext cx="7583760" cy="1308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8000" spc="-1" strike="noStrike">
                <a:solidFill>
                  <a:srgbClr val="3b82f6"/>
                </a:solidFill>
                <a:latin typeface="Inter"/>
                <a:ea typeface="DejaVu Sans"/>
              </a:rPr>
              <a:t>WORKFLOWS</a:t>
            </a:r>
            <a:endParaRPr b="0" lang="en-US" sz="8000" spc="-1" strike="noStrike">
              <a:latin typeface="Arial"/>
            </a:endParaRPr>
          </a:p>
        </p:txBody>
      </p:sp>
      <p:sp>
        <p:nvSpPr>
          <p:cNvPr id="439" name="CustomShape 3"/>
          <p:cNvSpPr/>
          <p:nvPr/>
        </p:nvSpPr>
        <p:spPr>
          <a:xfrm>
            <a:off x="3646800" y="4133880"/>
            <a:ext cx="487404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2400" spc="-1" strike="noStrike">
                <a:solidFill>
                  <a:srgbClr val="cccccc"/>
                </a:solidFill>
                <a:latin typeface="Consolas"/>
                <a:ea typeface="DejaVu Sans"/>
              </a:rPr>
              <a:t>/plan  /implement  /validate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440" name="CustomShape 4"/>
          <p:cNvSpPr/>
          <p:nvPr/>
        </p:nvSpPr>
        <p:spPr>
          <a:xfrm>
            <a:off x="5018040" y="5414040"/>
            <a:ext cx="2131920" cy="71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CustomShape 1"/>
          <p:cNvSpPr/>
          <p:nvPr/>
        </p:nvSpPr>
        <p:spPr>
          <a:xfrm>
            <a:off x="0" y="0"/>
            <a:ext cx="71640" cy="6856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2" name="CustomShape 2"/>
          <p:cNvSpPr/>
          <p:nvPr/>
        </p:nvSpPr>
        <p:spPr>
          <a:xfrm>
            <a:off x="3696480" y="457200"/>
            <a:ext cx="467568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The Rule of Three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443" name="CustomShape 3"/>
          <p:cNvSpPr/>
          <p:nvPr/>
        </p:nvSpPr>
        <p:spPr>
          <a:xfrm>
            <a:off x="548640" y="1371600"/>
            <a:ext cx="2284560" cy="53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4" name="CustomShape 4"/>
          <p:cNvSpPr/>
          <p:nvPr/>
        </p:nvSpPr>
        <p:spPr>
          <a:xfrm>
            <a:off x="548640" y="1965960"/>
            <a:ext cx="108360" cy="108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5" name="CustomShape 5"/>
          <p:cNvSpPr/>
          <p:nvPr/>
        </p:nvSpPr>
        <p:spPr>
          <a:xfrm>
            <a:off x="914400" y="1828800"/>
            <a:ext cx="1051416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Type something more than 3 times = make it a command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446" name="CustomShape 6"/>
          <p:cNvSpPr/>
          <p:nvPr/>
        </p:nvSpPr>
        <p:spPr>
          <a:xfrm>
            <a:off x="548640" y="3063240"/>
            <a:ext cx="108360" cy="108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7" name="CustomShape 7"/>
          <p:cNvSpPr/>
          <p:nvPr/>
        </p:nvSpPr>
        <p:spPr>
          <a:xfrm>
            <a:off x="914400" y="2926080"/>
            <a:ext cx="1051416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Avoid the re-prompting tax on every conversation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448" name="CustomShape 8"/>
          <p:cNvSpPr/>
          <p:nvPr/>
        </p:nvSpPr>
        <p:spPr>
          <a:xfrm>
            <a:off x="548640" y="4160520"/>
            <a:ext cx="108360" cy="108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9" name="CustomShape 9"/>
          <p:cNvSpPr/>
          <p:nvPr/>
        </p:nvSpPr>
        <p:spPr>
          <a:xfrm>
            <a:off x="914400" y="4023360"/>
            <a:ext cx="1051416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Commands encode your best practices automatically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450" name="CustomShape 10"/>
          <p:cNvSpPr/>
          <p:nvPr/>
        </p:nvSpPr>
        <p:spPr>
          <a:xfrm>
            <a:off x="548640" y="5257800"/>
            <a:ext cx="108360" cy="108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1" name="CustomShape 11"/>
          <p:cNvSpPr/>
          <p:nvPr/>
        </p:nvSpPr>
        <p:spPr>
          <a:xfrm>
            <a:off x="914400" y="5120640"/>
            <a:ext cx="1051416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Your AI layer grows with every workflow you capture</a:t>
            </a:r>
            <a:endParaRPr b="0" lang="en-US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CustomShape 1"/>
          <p:cNvSpPr/>
          <p:nvPr/>
        </p:nvSpPr>
        <p:spPr>
          <a:xfrm>
            <a:off x="1048320" y="457200"/>
            <a:ext cx="10093680" cy="699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afafa"/>
                </a:solidFill>
                <a:latin typeface="Inter"/>
                <a:ea typeface="DejaVu Sans"/>
              </a:rPr>
              <a:t>Think From the Agent's Perspective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453" name="CustomShape 2"/>
          <p:cNvSpPr/>
          <p:nvPr/>
        </p:nvSpPr>
        <p:spPr>
          <a:xfrm>
            <a:off x="868680" y="196596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4" name="CustomShape 3"/>
          <p:cNvSpPr/>
          <p:nvPr/>
        </p:nvSpPr>
        <p:spPr>
          <a:xfrm>
            <a:off x="731520" y="182880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5" name="CustomShape 4"/>
          <p:cNvSpPr/>
          <p:nvPr/>
        </p:nvSpPr>
        <p:spPr>
          <a:xfrm>
            <a:off x="1005840" y="2103120"/>
            <a:ext cx="730080" cy="108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6" name="CustomShape 5"/>
          <p:cNvSpPr/>
          <p:nvPr/>
        </p:nvSpPr>
        <p:spPr>
          <a:xfrm>
            <a:off x="1100880" y="2377440"/>
            <a:ext cx="72252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3b82f6"/>
                </a:solidFill>
                <a:latin typeface="Inter"/>
                <a:ea typeface="DejaVu Sans"/>
              </a:rPr>
              <a:t>01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457" name="CustomShape 6"/>
          <p:cNvSpPr/>
          <p:nvPr/>
        </p:nvSpPr>
        <p:spPr>
          <a:xfrm>
            <a:off x="1005840" y="3200400"/>
            <a:ext cx="329040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INPUT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58" name="CustomShape 7"/>
          <p:cNvSpPr/>
          <p:nvPr/>
        </p:nvSpPr>
        <p:spPr>
          <a:xfrm>
            <a:off x="1005840" y="4206240"/>
            <a:ext cx="3290400" cy="819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What does the agent need to SEE? Context, parameters, persona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59" name="CustomShape 8"/>
          <p:cNvSpPr/>
          <p:nvPr/>
        </p:nvSpPr>
        <p:spPr>
          <a:xfrm>
            <a:off x="4251960" y="233172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0" name="CustomShape 9"/>
          <p:cNvSpPr/>
          <p:nvPr/>
        </p:nvSpPr>
        <p:spPr>
          <a:xfrm>
            <a:off x="4114800" y="219456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1" name="CustomShape 10"/>
          <p:cNvSpPr/>
          <p:nvPr/>
        </p:nvSpPr>
        <p:spPr>
          <a:xfrm>
            <a:off x="4389120" y="2468880"/>
            <a:ext cx="730080" cy="10836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2" name="CustomShape 11"/>
          <p:cNvSpPr/>
          <p:nvPr/>
        </p:nvSpPr>
        <p:spPr>
          <a:xfrm>
            <a:off x="4484160" y="2743200"/>
            <a:ext cx="72252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60a5fa"/>
                </a:solidFill>
                <a:latin typeface="Inter"/>
                <a:ea typeface="DejaVu Sans"/>
              </a:rPr>
              <a:t>02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463" name="CustomShape 12"/>
          <p:cNvSpPr/>
          <p:nvPr/>
        </p:nvSpPr>
        <p:spPr>
          <a:xfrm>
            <a:off x="4389120" y="3566160"/>
            <a:ext cx="329040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PROCESS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64" name="CustomShape 13"/>
          <p:cNvSpPr/>
          <p:nvPr/>
        </p:nvSpPr>
        <p:spPr>
          <a:xfrm>
            <a:off x="4389120" y="4572000"/>
            <a:ext cx="3290400" cy="819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What should the agent DO? Step-by-step workflow, tools to use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465" name="CustomShape 14"/>
          <p:cNvSpPr/>
          <p:nvPr/>
        </p:nvSpPr>
        <p:spPr>
          <a:xfrm>
            <a:off x="7635240" y="178308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6" name="CustomShape 15"/>
          <p:cNvSpPr/>
          <p:nvPr/>
        </p:nvSpPr>
        <p:spPr>
          <a:xfrm>
            <a:off x="7498080" y="164592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7" name="CustomShape 16"/>
          <p:cNvSpPr/>
          <p:nvPr/>
        </p:nvSpPr>
        <p:spPr>
          <a:xfrm>
            <a:off x="7772400" y="1920240"/>
            <a:ext cx="730080" cy="10836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8" name="CustomShape 17"/>
          <p:cNvSpPr/>
          <p:nvPr/>
        </p:nvSpPr>
        <p:spPr>
          <a:xfrm>
            <a:off x="7867440" y="2194560"/>
            <a:ext cx="72252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0ea5e9"/>
                </a:solidFill>
                <a:latin typeface="Inter"/>
                <a:ea typeface="DejaVu Sans"/>
              </a:rPr>
              <a:t>03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469" name="CustomShape 18"/>
          <p:cNvSpPr/>
          <p:nvPr/>
        </p:nvSpPr>
        <p:spPr>
          <a:xfrm>
            <a:off x="7772400" y="3017520"/>
            <a:ext cx="329040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OUTPUT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70" name="CustomShape 19"/>
          <p:cNvSpPr/>
          <p:nvPr/>
        </p:nvSpPr>
        <p:spPr>
          <a:xfrm>
            <a:off x="7772400" y="4023360"/>
            <a:ext cx="3290400" cy="576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What should the agent SHARE? Code, analysis, structured docs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CustomShape 1"/>
          <p:cNvSpPr/>
          <p:nvPr/>
        </p:nvSpPr>
        <p:spPr>
          <a:xfrm>
            <a:off x="0" y="0"/>
            <a:ext cx="71640" cy="685728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2" name="CustomShape 2"/>
          <p:cNvSpPr/>
          <p:nvPr/>
        </p:nvSpPr>
        <p:spPr>
          <a:xfrm>
            <a:off x="1517760" y="457200"/>
            <a:ext cx="9033480" cy="63936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Exercise 3: Build a Command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473" name="CustomShape 3"/>
          <p:cNvSpPr/>
          <p:nvPr/>
        </p:nvSpPr>
        <p:spPr>
          <a:xfrm>
            <a:off x="548640" y="1371600"/>
            <a:ext cx="2285280" cy="5400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74" name="CustomShape 4"/>
          <p:cNvSpPr/>
          <p:nvPr/>
        </p:nvSpPr>
        <p:spPr>
          <a:xfrm>
            <a:off x="548640" y="1828800"/>
            <a:ext cx="10972080" cy="39240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Switch to the exercise-3 branch: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75" name="CustomShape 5"/>
          <p:cNvSpPr/>
          <p:nvPr/>
        </p:nvSpPr>
        <p:spPr>
          <a:xfrm>
            <a:off x="548640" y="2560320"/>
            <a:ext cx="10972080" cy="36504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60a5fa"/>
                </a:solidFill>
                <a:latin typeface="Consolas"/>
                <a:ea typeface="DejaVu Sans"/>
              </a:rPr>
              <a:t>git checkout exercise-3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76" name="CustomShape 6"/>
          <p:cNvSpPr/>
          <p:nvPr/>
        </p:nvSpPr>
        <p:spPr>
          <a:xfrm>
            <a:off x="548640" y="3291840"/>
            <a:ext cx="10972080" cy="36504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Create a command for something you do daily or weekly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77" name="CustomShape 7"/>
          <p:cNvSpPr/>
          <p:nvPr/>
        </p:nvSpPr>
        <p:spPr>
          <a:xfrm>
            <a:off x="548640" y="3749040"/>
            <a:ext cx="10972080" cy="36504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Examples: code review, commit messages, documentation, testing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78" name="CustomShape 8"/>
          <p:cNvSpPr/>
          <p:nvPr/>
        </p:nvSpPr>
        <p:spPr>
          <a:xfrm>
            <a:off x="548640" y="4206240"/>
            <a:ext cx="10972080" cy="36504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Take inspiration from the commands in .github/prompts/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79" name="CustomShape 9"/>
          <p:cNvSpPr/>
          <p:nvPr/>
        </p:nvSpPr>
        <p:spPr>
          <a:xfrm>
            <a:off x="548640" y="4663440"/>
            <a:ext cx="10972080" cy="36504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Make your own version that fits your workflow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80" name="CustomShape 10"/>
          <p:cNvSpPr/>
          <p:nvPr/>
        </p:nvSpPr>
        <p:spPr>
          <a:xfrm>
            <a:off x="548640" y="5394960"/>
            <a:ext cx="10972080" cy="913680"/>
          </a:xfrm>
          <a:prstGeom prst="rect">
            <a:avLst/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1" name="CustomShape 11"/>
          <p:cNvSpPr/>
          <p:nvPr/>
        </p:nvSpPr>
        <p:spPr>
          <a:xfrm>
            <a:off x="822960" y="5669280"/>
            <a:ext cx="10423440" cy="36504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Goal: Create a reusable command that automates part of your workflow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CustomShape 1"/>
          <p:cNvSpPr/>
          <p:nvPr/>
        </p:nvSpPr>
        <p:spPr>
          <a:xfrm>
            <a:off x="822960" y="914400"/>
            <a:ext cx="1222560" cy="3137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0000" spc="-1" strike="noStrike">
                <a:solidFill>
                  <a:srgbClr val="3b82f6"/>
                </a:solidFill>
                <a:latin typeface="Georgia"/>
                <a:ea typeface="DejaVu Sans"/>
              </a:rPr>
              <a:t>“</a:t>
            </a:r>
            <a:endParaRPr b="0" lang="en-US" sz="20000" spc="-1" strike="noStrike">
              <a:latin typeface="Arial"/>
            </a:endParaRPr>
          </a:p>
        </p:txBody>
      </p:sp>
      <p:sp>
        <p:nvSpPr>
          <p:cNvPr id="483" name="CustomShape 2"/>
          <p:cNvSpPr/>
          <p:nvPr/>
        </p:nvSpPr>
        <p:spPr>
          <a:xfrm>
            <a:off x="977760" y="2103120"/>
            <a:ext cx="108360" cy="2284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4" name="CustomShape 3"/>
          <p:cNvSpPr/>
          <p:nvPr/>
        </p:nvSpPr>
        <p:spPr>
          <a:xfrm>
            <a:off x="1709280" y="2531520"/>
            <a:ext cx="9599760" cy="1308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4000" spc="-1" strike="noStrike">
                <a:solidFill>
                  <a:srgbClr val="fafafa"/>
                </a:solidFill>
                <a:latin typeface="Inter"/>
                <a:ea typeface="DejaVu Sans"/>
              </a:rPr>
              <a:t>Don't just fix the bug. Fix the system that allowed the bug.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485" name="CustomShape 4"/>
          <p:cNvSpPr/>
          <p:nvPr/>
        </p:nvSpPr>
        <p:spPr>
          <a:xfrm>
            <a:off x="4467600" y="4572000"/>
            <a:ext cx="353448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3b82f6"/>
                </a:solidFill>
                <a:latin typeface="Inter"/>
                <a:ea typeface="DejaVu Sans"/>
              </a:rPr>
              <a:t>- System Evolution Philosophy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CustomShape 1"/>
          <p:cNvSpPr/>
          <p:nvPr/>
        </p:nvSpPr>
        <p:spPr>
          <a:xfrm>
            <a:off x="3203280" y="365760"/>
            <a:ext cx="578376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Evolving Your AI Layer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487" name="CustomShape 2"/>
          <p:cNvSpPr/>
          <p:nvPr/>
        </p:nvSpPr>
        <p:spPr>
          <a:xfrm>
            <a:off x="457200" y="1234440"/>
            <a:ext cx="2284560" cy="5328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8" name="CustomShape 3"/>
          <p:cNvSpPr/>
          <p:nvPr/>
        </p:nvSpPr>
        <p:spPr>
          <a:xfrm>
            <a:off x="457200" y="1645920"/>
            <a:ext cx="2612160" cy="438768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89" name="CustomShape 4"/>
          <p:cNvSpPr/>
          <p:nvPr/>
        </p:nvSpPr>
        <p:spPr>
          <a:xfrm>
            <a:off x="457200" y="1645920"/>
            <a:ext cx="2612160" cy="90000"/>
          </a:xfrm>
          <a:prstGeom prst="rect">
            <a:avLst/>
          </a:prstGeom>
          <a:solidFill>
            <a:srgbClr val="f87171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90" name="CustomShape 5"/>
          <p:cNvSpPr/>
          <p:nvPr/>
        </p:nvSpPr>
        <p:spPr>
          <a:xfrm>
            <a:off x="712440" y="1920240"/>
            <a:ext cx="58536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f87171"/>
                </a:solidFill>
                <a:latin typeface="Inter"/>
                <a:ea typeface="DejaVu Sans"/>
              </a:rPr>
              <a:t>01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491" name="CustomShape 6"/>
          <p:cNvSpPr/>
          <p:nvPr/>
        </p:nvSpPr>
        <p:spPr>
          <a:xfrm>
            <a:off x="640080" y="2560320"/>
            <a:ext cx="224640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fafafa"/>
                </a:solidFill>
                <a:latin typeface="Inter"/>
                <a:ea typeface="DejaVu Sans"/>
              </a:rPr>
              <a:t>Bug Found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92" name="CustomShape 7"/>
          <p:cNvSpPr/>
          <p:nvPr/>
        </p:nvSpPr>
        <p:spPr>
          <a:xfrm>
            <a:off x="640080" y="3474720"/>
            <a:ext cx="2246400" cy="942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cccccc"/>
                </a:solidFill>
                <a:latin typeface="Inter"/>
                <a:ea typeface="DejaVu Sans"/>
              </a:rPr>
              <a:t>Identify the root cause - was it context, workflow, or architecture?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93" name="CustomShape 8"/>
          <p:cNvSpPr/>
          <p:nvPr/>
        </p:nvSpPr>
        <p:spPr>
          <a:xfrm>
            <a:off x="3345120" y="1645920"/>
            <a:ext cx="2612160" cy="438768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94" name="CustomShape 9"/>
          <p:cNvSpPr/>
          <p:nvPr/>
        </p:nvSpPr>
        <p:spPr>
          <a:xfrm>
            <a:off x="3345120" y="1645920"/>
            <a:ext cx="2612160" cy="90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95" name="CustomShape 10"/>
          <p:cNvSpPr/>
          <p:nvPr/>
        </p:nvSpPr>
        <p:spPr>
          <a:xfrm>
            <a:off x="3600360" y="1920240"/>
            <a:ext cx="58536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3b82f6"/>
                </a:solidFill>
                <a:latin typeface="Inter"/>
                <a:ea typeface="DejaVu Sans"/>
              </a:rPr>
              <a:t>02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496" name="CustomShape 11"/>
          <p:cNvSpPr/>
          <p:nvPr/>
        </p:nvSpPr>
        <p:spPr>
          <a:xfrm>
            <a:off x="3528000" y="2560320"/>
            <a:ext cx="224640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fafafa"/>
                </a:solidFill>
                <a:latin typeface="Inter"/>
                <a:ea typeface="DejaVu Sans"/>
              </a:rPr>
              <a:t>Update Rules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97" name="CustomShape 12"/>
          <p:cNvSpPr/>
          <p:nvPr/>
        </p:nvSpPr>
        <p:spPr>
          <a:xfrm>
            <a:off x="3528000" y="3474720"/>
            <a:ext cx="2246400" cy="72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cccccc"/>
                </a:solidFill>
                <a:latin typeface="Inter"/>
                <a:ea typeface="DejaVu Sans"/>
              </a:rPr>
              <a:t>Add constraints to prevent recurrence in global rules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98" name="CustomShape 13"/>
          <p:cNvSpPr/>
          <p:nvPr/>
        </p:nvSpPr>
        <p:spPr>
          <a:xfrm>
            <a:off x="6233040" y="1645920"/>
            <a:ext cx="2612160" cy="438768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99" name="CustomShape 14"/>
          <p:cNvSpPr/>
          <p:nvPr/>
        </p:nvSpPr>
        <p:spPr>
          <a:xfrm>
            <a:off x="6233040" y="1645920"/>
            <a:ext cx="2612160" cy="9000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00" name="CustomShape 15"/>
          <p:cNvSpPr/>
          <p:nvPr/>
        </p:nvSpPr>
        <p:spPr>
          <a:xfrm>
            <a:off x="6488280" y="1920240"/>
            <a:ext cx="58536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60a5fa"/>
                </a:solidFill>
                <a:latin typeface="Inter"/>
                <a:ea typeface="DejaVu Sans"/>
              </a:rPr>
              <a:t>03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501" name="CustomShape 16"/>
          <p:cNvSpPr/>
          <p:nvPr/>
        </p:nvSpPr>
        <p:spPr>
          <a:xfrm>
            <a:off x="6415920" y="2468880"/>
            <a:ext cx="224640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fafafa"/>
                </a:solidFill>
                <a:latin typeface="Inter"/>
                <a:ea typeface="DejaVu Sans"/>
              </a:rPr>
              <a:t>Update/Add Commands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02" name="CustomShape 17"/>
          <p:cNvSpPr/>
          <p:nvPr/>
        </p:nvSpPr>
        <p:spPr>
          <a:xfrm>
            <a:off x="6415920" y="3474720"/>
            <a:ext cx="2246400" cy="72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cccccc"/>
                </a:solidFill>
                <a:latin typeface="Inter"/>
                <a:ea typeface="DejaVu Sans"/>
              </a:rPr>
              <a:t>Create a new workflow or improve existing ones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03" name="CustomShape 18"/>
          <p:cNvSpPr/>
          <p:nvPr/>
        </p:nvSpPr>
        <p:spPr>
          <a:xfrm>
            <a:off x="9120960" y="1645920"/>
            <a:ext cx="2612160" cy="438768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04" name="CustomShape 19"/>
          <p:cNvSpPr/>
          <p:nvPr/>
        </p:nvSpPr>
        <p:spPr>
          <a:xfrm>
            <a:off x="9120960" y="1645920"/>
            <a:ext cx="2612160" cy="9000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05" name="CustomShape 20"/>
          <p:cNvSpPr/>
          <p:nvPr/>
        </p:nvSpPr>
        <p:spPr>
          <a:xfrm>
            <a:off x="9376200" y="1920240"/>
            <a:ext cx="58536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4ade80"/>
                </a:solidFill>
                <a:latin typeface="Inter"/>
                <a:ea typeface="DejaVu Sans"/>
              </a:rPr>
              <a:t>04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506" name="CustomShape 21"/>
          <p:cNvSpPr/>
          <p:nvPr/>
        </p:nvSpPr>
        <p:spPr>
          <a:xfrm>
            <a:off x="9303840" y="2560320"/>
            <a:ext cx="224640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fafafa"/>
                </a:solidFill>
                <a:latin typeface="Inter"/>
                <a:ea typeface="DejaVu Sans"/>
              </a:rPr>
              <a:t>Refine Context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07" name="CustomShape 22"/>
          <p:cNvSpPr/>
          <p:nvPr/>
        </p:nvSpPr>
        <p:spPr>
          <a:xfrm>
            <a:off x="9303840" y="3474720"/>
            <a:ext cx="2246400" cy="515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cccccc"/>
                </a:solidFill>
                <a:latin typeface="Inter"/>
                <a:ea typeface="DejaVu Sans"/>
              </a:rPr>
              <a:t>Improve on-demand context and skills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CustomShape 1"/>
          <p:cNvSpPr/>
          <p:nvPr/>
        </p:nvSpPr>
        <p:spPr>
          <a:xfrm>
            <a:off x="0" y="0"/>
            <a:ext cx="4113360" cy="6856560"/>
          </a:xfrm>
          <a:prstGeom prst="rect">
            <a:avLst/>
          </a:prstGeom>
          <a:solidFill>
            <a:srgbClr val="080a13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09" name="CustomShape 2"/>
          <p:cNvSpPr/>
          <p:nvPr/>
        </p:nvSpPr>
        <p:spPr>
          <a:xfrm>
            <a:off x="950040" y="2560320"/>
            <a:ext cx="2212920" cy="1918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12000" spc="-1" strike="noStrike">
                <a:solidFill>
                  <a:srgbClr val="3b82f6"/>
                </a:solidFill>
                <a:latin typeface="Inter"/>
                <a:ea typeface="DejaVu Sans"/>
              </a:rPr>
              <a:t>04</a:t>
            </a:r>
            <a:endParaRPr b="0" lang="en-US" sz="12000" spc="-1" strike="noStrike">
              <a:latin typeface="Arial"/>
            </a:endParaRPr>
          </a:p>
        </p:txBody>
      </p:sp>
      <p:sp>
        <p:nvSpPr>
          <p:cNvPr id="510" name="CustomShape 3"/>
          <p:cNvSpPr/>
          <p:nvPr/>
        </p:nvSpPr>
        <p:spPr>
          <a:xfrm>
            <a:off x="4114800" y="1371600"/>
            <a:ext cx="71640" cy="4113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11" name="CustomShape 4"/>
          <p:cNvSpPr/>
          <p:nvPr/>
        </p:nvSpPr>
        <p:spPr>
          <a:xfrm>
            <a:off x="4754880" y="2194560"/>
            <a:ext cx="6856560" cy="1430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4400" spc="-1" strike="noStrike">
                <a:solidFill>
                  <a:srgbClr val="fafafa"/>
                </a:solidFill>
                <a:latin typeface="Inter"/>
                <a:ea typeface="DejaVu Sans"/>
              </a:rPr>
              <a:t>AI-Native Architecture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512" name="CustomShape 5"/>
          <p:cNvSpPr/>
          <p:nvPr/>
        </p:nvSpPr>
        <p:spPr>
          <a:xfrm>
            <a:off x="4754880" y="3840480"/>
            <a:ext cx="685656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cccccc"/>
                </a:solidFill>
                <a:latin typeface="Inter"/>
                <a:ea typeface="DejaVu Sans"/>
              </a:rPr>
              <a:t>Optimizing codebases for agents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CustomShape 1"/>
          <p:cNvSpPr/>
          <p:nvPr/>
        </p:nvSpPr>
        <p:spPr>
          <a:xfrm>
            <a:off x="759600" y="1188720"/>
            <a:ext cx="1222560" cy="3137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0000" spc="-1" strike="noStrike">
                <a:solidFill>
                  <a:srgbClr val="3b82f6"/>
                </a:solidFill>
                <a:latin typeface="Georgia"/>
                <a:ea typeface="DejaVu Sans"/>
              </a:rPr>
              <a:t>“</a:t>
            </a:r>
            <a:endParaRPr b="0" lang="en-US" sz="20000" spc="-1" strike="noStrike">
              <a:latin typeface="Arial"/>
            </a:endParaRPr>
          </a:p>
        </p:txBody>
      </p:sp>
      <p:sp>
        <p:nvSpPr>
          <p:cNvPr id="514" name="CustomShape 2"/>
          <p:cNvSpPr/>
          <p:nvPr/>
        </p:nvSpPr>
        <p:spPr>
          <a:xfrm>
            <a:off x="914400" y="2377440"/>
            <a:ext cx="108360" cy="2284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15" name="CustomShape 3"/>
          <p:cNvSpPr/>
          <p:nvPr/>
        </p:nvSpPr>
        <p:spPr>
          <a:xfrm>
            <a:off x="1555200" y="2590560"/>
            <a:ext cx="9599760" cy="1735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Establish the foundation of your project first, then building everything is much more efficient and reliable.</a:t>
            </a:r>
            <a:endParaRPr b="0" lang="en-US" sz="3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CustomShape 1"/>
          <p:cNvSpPr/>
          <p:nvPr/>
        </p:nvSpPr>
        <p:spPr>
          <a:xfrm>
            <a:off x="2922840" y="365760"/>
            <a:ext cx="634464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The 6 Foundation Layers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517" name="CustomShape 2"/>
          <p:cNvSpPr/>
          <p:nvPr/>
        </p:nvSpPr>
        <p:spPr>
          <a:xfrm>
            <a:off x="457200" y="1234440"/>
            <a:ext cx="2284560" cy="5328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18" name="CustomShape 3"/>
          <p:cNvSpPr/>
          <p:nvPr/>
        </p:nvSpPr>
        <p:spPr>
          <a:xfrm>
            <a:off x="457200" y="1645920"/>
            <a:ext cx="3574800" cy="219312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19" name="CustomShape 4"/>
          <p:cNvSpPr/>
          <p:nvPr/>
        </p:nvSpPr>
        <p:spPr>
          <a:xfrm>
            <a:off x="457200" y="1645920"/>
            <a:ext cx="3574800" cy="71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20" name="CustomShape 5"/>
          <p:cNvSpPr/>
          <p:nvPr/>
        </p:nvSpPr>
        <p:spPr>
          <a:xfrm>
            <a:off x="671040" y="1828800"/>
            <a:ext cx="48492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3b82f6"/>
                </a:solidFill>
                <a:latin typeface="Inter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21" name="CustomShape 6"/>
          <p:cNvSpPr/>
          <p:nvPr/>
        </p:nvSpPr>
        <p:spPr>
          <a:xfrm>
            <a:off x="640080" y="2286000"/>
            <a:ext cx="32090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fafafa"/>
                </a:solidFill>
                <a:latin typeface="Inter"/>
                <a:ea typeface="DejaVu Sans"/>
              </a:rPr>
              <a:t>Testing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22" name="CustomShape 7"/>
          <p:cNvSpPr/>
          <p:nvPr/>
        </p:nvSpPr>
        <p:spPr>
          <a:xfrm>
            <a:off x="640080" y="2834640"/>
            <a:ext cx="3209040" cy="302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cccccc"/>
                </a:solidFill>
                <a:latin typeface="Inter"/>
                <a:ea typeface="DejaVu Sans"/>
              </a:rPr>
              <a:t>Biome, Vitest, Playwright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23" name="CustomShape 8"/>
          <p:cNvSpPr/>
          <p:nvPr/>
        </p:nvSpPr>
        <p:spPr>
          <a:xfrm>
            <a:off x="4307760" y="1645920"/>
            <a:ext cx="3574800" cy="219312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24" name="CustomShape 9"/>
          <p:cNvSpPr/>
          <p:nvPr/>
        </p:nvSpPr>
        <p:spPr>
          <a:xfrm>
            <a:off x="4307760" y="1645920"/>
            <a:ext cx="3574800" cy="7164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25" name="CustomShape 10"/>
          <p:cNvSpPr/>
          <p:nvPr/>
        </p:nvSpPr>
        <p:spPr>
          <a:xfrm>
            <a:off x="4521600" y="1828800"/>
            <a:ext cx="48492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60a5fa"/>
                </a:solidFill>
                <a:latin typeface="Inter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26" name="CustomShape 11"/>
          <p:cNvSpPr/>
          <p:nvPr/>
        </p:nvSpPr>
        <p:spPr>
          <a:xfrm>
            <a:off x="4490640" y="2286000"/>
            <a:ext cx="32090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fafafa"/>
                </a:solidFill>
                <a:latin typeface="Inter"/>
                <a:ea typeface="DejaVu Sans"/>
              </a:rPr>
              <a:t>Logging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27" name="CustomShape 12"/>
          <p:cNvSpPr/>
          <p:nvPr/>
        </p:nvSpPr>
        <p:spPr>
          <a:xfrm>
            <a:off x="4490640" y="2834640"/>
            <a:ext cx="3209040" cy="302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cccccc"/>
                </a:solidFill>
                <a:latin typeface="Inter"/>
                <a:ea typeface="DejaVu Sans"/>
              </a:rPr>
              <a:t>Pino with structured output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28" name="CustomShape 13"/>
          <p:cNvSpPr/>
          <p:nvPr/>
        </p:nvSpPr>
        <p:spPr>
          <a:xfrm>
            <a:off x="8158320" y="1645920"/>
            <a:ext cx="3574800" cy="219312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29" name="CustomShape 14"/>
          <p:cNvSpPr/>
          <p:nvPr/>
        </p:nvSpPr>
        <p:spPr>
          <a:xfrm>
            <a:off x="8158320" y="1645920"/>
            <a:ext cx="3574800" cy="7164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30" name="CustomShape 15"/>
          <p:cNvSpPr/>
          <p:nvPr/>
        </p:nvSpPr>
        <p:spPr>
          <a:xfrm>
            <a:off x="8372160" y="1828800"/>
            <a:ext cx="48492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0ea5e9"/>
                </a:solidFill>
                <a:latin typeface="Inter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31" name="CustomShape 16"/>
          <p:cNvSpPr/>
          <p:nvPr/>
        </p:nvSpPr>
        <p:spPr>
          <a:xfrm>
            <a:off x="8341200" y="2286000"/>
            <a:ext cx="32090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fafafa"/>
                </a:solidFill>
                <a:latin typeface="Inter"/>
                <a:ea typeface="DejaVu Sans"/>
              </a:rPr>
              <a:t>Infra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32" name="CustomShape 17"/>
          <p:cNvSpPr/>
          <p:nvPr/>
        </p:nvSpPr>
        <p:spPr>
          <a:xfrm>
            <a:off x="8341200" y="2834640"/>
            <a:ext cx="3209040" cy="302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cccccc"/>
                </a:solidFill>
                <a:latin typeface="Inter"/>
                <a:ea typeface="DejaVu Sans"/>
              </a:rPr>
              <a:t>Next.js with app router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33" name="CustomShape 18"/>
          <p:cNvSpPr/>
          <p:nvPr/>
        </p:nvSpPr>
        <p:spPr>
          <a:xfrm>
            <a:off x="457200" y="4114800"/>
            <a:ext cx="3574800" cy="219312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34" name="CustomShape 19"/>
          <p:cNvSpPr/>
          <p:nvPr/>
        </p:nvSpPr>
        <p:spPr>
          <a:xfrm>
            <a:off x="457200" y="4114800"/>
            <a:ext cx="3574800" cy="7164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35" name="CustomShape 20"/>
          <p:cNvSpPr/>
          <p:nvPr/>
        </p:nvSpPr>
        <p:spPr>
          <a:xfrm>
            <a:off x="671040" y="4297680"/>
            <a:ext cx="48492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3b82f6"/>
                </a:solidFill>
                <a:latin typeface="Inter"/>
                <a:ea typeface="DejaVu Sans"/>
              </a:rPr>
              <a:t>04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36" name="CustomShape 21"/>
          <p:cNvSpPr/>
          <p:nvPr/>
        </p:nvSpPr>
        <p:spPr>
          <a:xfrm>
            <a:off x="640080" y="4754880"/>
            <a:ext cx="32090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fafafa"/>
                </a:solidFill>
                <a:latin typeface="Inter"/>
                <a:ea typeface="DejaVu Sans"/>
              </a:rPr>
              <a:t>Database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37" name="CustomShape 22"/>
          <p:cNvSpPr/>
          <p:nvPr/>
        </p:nvSpPr>
        <p:spPr>
          <a:xfrm>
            <a:off x="640080" y="5303520"/>
            <a:ext cx="3209040" cy="302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cccccc"/>
                </a:solidFill>
                <a:latin typeface="Inter"/>
                <a:ea typeface="DejaVu Sans"/>
              </a:rPr>
              <a:t>Prisma ORM with migrations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38" name="CustomShape 23"/>
          <p:cNvSpPr/>
          <p:nvPr/>
        </p:nvSpPr>
        <p:spPr>
          <a:xfrm>
            <a:off x="4307760" y="4114800"/>
            <a:ext cx="3574800" cy="219312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39" name="CustomShape 24"/>
          <p:cNvSpPr/>
          <p:nvPr/>
        </p:nvSpPr>
        <p:spPr>
          <a:xfrm>
            <a:off x="4307760" y="4114800"/>
            <a:ext cx="3574800" cy="7164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40" name="CustomShape 25"/>
          <p:cNvSpPr/>
          <p:nvPr/>
        </p:nvSpPr>
        <p:spPr>
          <a:xfrm>
            <a:off x="4521600" y="4297680"/>
            <a:ext cx="48492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60a5fa"/>
                </a:solidFill>
                <a:latin typeface="Inter"/>
                <a:ea typeface="DejaVu Sans"/>
              </a:rPr>
              <a:t>05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41" name="CustomShape 26"/>
          <p:cNvSpPr/>
          <p:nvPr/>
        </p:nvSpPr>
        <p:spPr>
          <a:xfrm>
            <a:off x="4490640" y="4754880"/>
            <a:ext cx="32090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fafafa"/>
                </a:solidFill>
                <a:latin typeface="Inter"/>
                <a:ea typeface="DejaVu Sans"/>
              </a:rPr>
              <a:t>Health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42" name="CustomShape 27"/>
          <p:cNvSpPr/>
          <p:nvPr/>
        </p:nvSpPr>
        <p:spPr>
          <a:xfrm>
            <a:off x="4490640" y="5303520"/>
            <a:ext cx="3209040" cy="302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cccccc"/>
                </a:solidFill>
                <a:latin typeface="Inter"/>
                <a:ea typeface="DejaVu Sans"/>
              </a:rPr>
              <a:t>/health endpoint ready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43" name="CustomShape 28"/>
          <p:cNvSpPr/>
          <p:nvPr/>
        </p:nvSpPr>
        <p:spPr>
          <a:xfrm>
            <a:off x="8158320" y="4114800"/>
            <a:ext cx="3574800" cy="219312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44" name="CustomShape 29"/>
          <p:cNvSpPr/>
          <p:nvPr/>
        </p:nvSpPr>
        <p:spPr>
          <a:xfrm>
            <a:off x="8158320" y="4114800"/>
            <a:ext cx="3574800" cy="7164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45" name="CustomShape 30"/>
          <p:cNvSpPr/>
          <p:nvPr/>
        </p:nvSpPr>
        <p:spPr>
          <a:xfrm>
            <a:off x="8372160" y="4297680"/>
            <a:ext cx="48492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0ea5e9"/>
                </a:solidFill>
                <a:latin typeface="Inter"/>
                <a:ea typeface="DejaVu Sans"/>
              </a:rPr>
              <a:t>06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46" name="CustomShape 31"/>
          <p:cNvSpPr/>
          <p:nvPr/>
        </p:nvSpPr>
        <p:spPr>
          <a:xfrm>
            <a:off x="8341200" y="4754880"/>
            <a:ext cx="32090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fafafa"/>
                </a:solidFill>
                <a:latin typeface="Inter"/>
                <a:ea typeface="DejaVu Sans"/>
              </a:rPr>
              <a:t>Patterns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47" name="CustomShape 32"/>
          <p:cNvSpPr/>
          <p:nvPr/>
        </p:nvSpPr>
        <p:spPr>
          <a:xfrm>
            <a:off x="8341200" y="5303520"/>
            <a:ext cx="3209040" cy="302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cccccc"/>
                </a:solidFill>
                <a:latin typeface="Inter"/>
                <a:ea typeface="DejaVu Sans"/>
              </a:rPr>
              <a:t>Zod validation everywhere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CustomShape 1"/>
          <p:cNvSpPr/>
          <p:nvPr/>
        </p:nvSpPr>
        <p:spPr>
          <a:xfrm>
            <a:off x="0" y="0"/>
            <a:ext cx="71640" cy="6856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49" name="CustomShape 2"/>
          <p:cNvSpPr/>
          <p:nvPr/>
        </p:nvSpPr>
        <p:spPr>
          <a:xfrm>
            <a:off x="1897920" y="457200"/>
            <a:ext cx="827244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The Compounding Quality Effect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550" name="CustomShape 3"/>
          <p:cNvSpPr/>
          <p:nvPr/>
        </p:nvSpPr>
        <p:spPr>
          <a:xfrm>
            <a:off x="548640" y="1371600"/>
            <a:ext cx="2284560" cy="53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51" name="CustomShape 4"/>
          <p:cNvSpPr/>
          <p:nvPr/>
        </p:nvSpPr>
        <p:spPr>
          <a:xfrm>
            <a:off x="548640" y="1965960"/>
            <a:ext cx="108360" cy="108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52" name="CustomShape 5"/>
          <p:cNvSpPr/>
          <p:nvPr/>
        </p:nvSpPr>
        <p:spPr>
          <a:xfrm>
            <a:off x="914400" y="1828800"/>
            <a:ext cx="1051416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Tests validate logging works correctly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553" name="CustomShape 6"/>
          <p:cNvSpPr/>
          <p:nvPr/>
        </p:nvSpPr>
        <p:spPr>
          <a:xfrm>
            <a:off x="548640" y="3063240"/>
            <a:ext cx="108360" cy="108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54" name="CustomShape 7"/>
          <p:cNvSpPr/>
          <p:nvPr/>
        </p:nvSpPr>
        <p:spPr>
          <a:xfrm>
            <a:off x="914400" y="2926080"/>
            <a:ext cx="1051416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Logging enables debugging in any environment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555" name="CustomShape 8"/>
          <p:cNvSpPr/>
          <p:nvPr/>
        </p:nvSpPr>
        <p:spPr>
          <a:xfrm>
            <a:off x="548640" y="4160520"/>
            <a:ext cx="108360" cy="108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56" name="CustomShape 9"/>
          <p:cNvSpPr/>
          <p:nvPr/>
        </p:nvSpPr>
        <p:spPr>
          <a:xfrm>
            <a:off x="914400" y="4023360"/>
            <a:ext cx="1051416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Infrastructure supports database operations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557" name="CustomShape 10"/>
          <p:cNvSpPr/>
          <p:nvPr/>
        </p:nvSpPr>
        <p:spPr>
          <a:xfrm>
            <a:off x="548640" y="5257800"/>
            <a:ext cx="108360" cy="108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58" name="CustomShape 11"/>
          <p:cNvSpPr/>
          <p:nvPr/>
        </p:nvSpPr>
        <p:spPr>
          <a:xfrm>
            <a:off x="914400" y="5120640"/>
            <a:ext cx="1051416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Everything builds on the foundation</a:t>
            </a:r>
            <a:endParaRPr b="0" lang="en-US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CustomShape 1"/>
          <p:cNvSpPr/>
          <p:nvPr/>
        </p:nvSpPr>
        <p:spPr>
          <a:xfrm>
            <a:off x="0" y="0"/>
            <a:ext cx="4113360" cy="6856560"/>
          </a:xfrm>
          <a:prstGeom prst="rect">
            <a:avLst/>
          </a:prstGeom>
          <a:solidFill>
            <a:srgbClr val="080a13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60" name="CustomShape 2"/>
          <p:cNvSpPr/>
          <p:nvPr/>
        </p:nvSpPr>
        <p:spPr>
          <a:xfrm>
            <a:off x="520200" y="2560320"/>
            <a:ext cx="3072600" cy="16135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10000" spc="-1" strike="noStrike">
                <a:solidFill>
                  <a:srgbClr val="3b82f6"/>
                </a:solidFill>
                <a:latin typeface="Inter"/>
                <a:ea typeface="DejaVu Sans"/>
              </a:rPr>
              <a:t>VSA</a:t>
            </a:r>
            <a:endParaRPr b="0" lang="en-US" sz="10000" spc="-1" strike="noStrike">
              <a:latin typeface="Arial"/>
            </a:endParaRPr>
          </a:p>
        </p:txBody>
      </p:sp>
      <p:sp>
        <p:nvSpPr>
          <p:cNvPr id="561" name="CustomShape 3"/>
          <p:cNvSpPr/>
          <p:nvPr/>
        </p:nvSpPr>
        <p:spPr>
          <a:xfrm>
            <a:off x="4114800" y="1371600"/>
            <a:ext cx="71640" cy="4113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62" name="CustomShape 4"/>
          <p:cNvSpPr/>
          <p:nvPr/>
        </p:nvSpPr>
        <p:spPr>
          <a:xfrm>
            <a:off x="4754880" y="2194560"/>
            <a:ext cx="6856560" cy="1430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4400" spc="-1" strike="noStrike">
                <a:solidFill>
                  <a:srgbClr val="fafafa"/>
                </a:solidFill>
                <a:latin typeface="Inter"/>
                <a:ea typeface="DejaVu Sans"/>
              </a:rPr>
              <a:t>Vertical Slice Architecture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563" name="CustomShape 5"/>
          <p:cNvSpPr/>
          <p:nvPr/>
        </p:nvSpPr>
        <p:spPr>
          <a:xfrm>
            <a:off x="4754880" y="3657600"/>
            <a:ext cx="685656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cccccc"/>
                </a:solidFill>
                <a:latin typeface="Inter"/>
                <a:ea typeface="DejaVu Sans"/>
              </a:rPr>
              <a:t>Why VSA works for Agentic Engineering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CustomShape 1"/>
          <p:cNvSpPr/>
          <p:nvPr/>
        </p:nvSpPr>
        <p:spPr>
          <a:xfrm>
            <a:off x="3303720" y="365760"/>
            <a:ext cx="558252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Horizontal vs Vertical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565" name="CustomShape 2"/>
          <p:cNvSpPr/>
          <p:nvPr/>
        </p:nvSpPr>
        <p:spPr>
          <a:xfrm>
            <a:off x="457200" y="1234440"/>
            <a:ext cx="2284560" cy="5328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66" name="CustomShape 3"/>
          <p:cNvSpPr/>
          <p:nvPr/>
        </p:nvSpPr>
        <p:spPr>
          <a:xfrm>
            <a:off x="457200" y="1645920"/>
            <a:ext cx="5302080" cy="457056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67" name="CustomShape 4"/>
          <p:cNvSpPr/>
          <p:nvPr/>
        </p:nvSpPr>
        <p:spPr>
          <a:xfrm>
            <a:off x="1412640" y="1920240"/>
            <a:ext cx="339120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cccccc"/>
                </a:solidFill>
                <a:latin typeface="Inter"/>
                <a:ea typeface="DejaVu Sans"/>
              </a:rPr>
              <a:t>Traditional (Horizontal)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568" name="CustomShape 5"/>
          <p:cNvSpPr/>
          <p:nvPr/>
        </p:nvSpPr>
        <p:spPr>
          <a:xfrm>
            <a:off x="731520" y="256032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Cross-cutting concerns everywhere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69" name="CustomShape 6"/>
          <p:cNvSpPr/>
          <p:nvPr/>
        </p:nvSpPr>
        <p:spPr>
          <a:xfrm>
            <a:off x="731520" y="338328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Changes ripple across layers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70" name="CustomShape 7"/>
          <p:cNvSpPr/>
          <p:nvPr/>
        </p:nvSpPr>
        <p:spPr>
          <a:xfrm>
            <a:off x="731520" y="420624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Hard to reason about impact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71" name="CustomShape 8"/>
          <p:cNvSpPr/>
          <p:nvPr/>
        </p:nvSpPr>
        <p:spPr>
          <a:xfrm>
            <a:off x="731520" y="502920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Context spread thin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72" name="CustomShape 9"/>
          <p:cNvSpPr/>
          <p:nvPr/>
        </p:nvSpPr>
        <p:spPr>
          <a:xfrm>
            <a:off x="6400800" y="1645920"/>
            <a:ext cx="5302080" cy="457056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73" name="CustomShape 10"/>
          <p:cNvSpPr/>
          <p:nvPr/>
        </p:nvSpPr>
        <p:spPr>
          <a:xfrm>
            <a:off x="7979400" y="1920240"/>
            <a:ext cx="214452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3b82f6"/>
                </a:solidFill>
                <a:latin typeface="Inter"/>
                <a:ea typeface="DejaVu Sans"/>
              </a:rPr>
              <a:t>VSA (Vertical)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574" name="CustomShape 11"/>
          <p:cNvSpPr/>
          <p:nvPr/>
        </p:nvSpPr>
        <p:spPr>
          <a:xfrm>
            <a:off x="6675120" y="256032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Feature isolation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75" name="CustomShape 12"/>
          <p:cNvSpPr/>
          <p:nvPr/>
        </p:nvSpPr>
        <p:spPr>
          <a:xfrm>
            <a:off x="6675120" y="338328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Changes contained to slice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76" name="CustomShape 13"/>
          <p:cNvSpPr/>
          <p:nvPr/>
        </p:nvSpPr>
        <p:spPr>
          <a:xfrm>
            <a:off x="6675120" y="420624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Clear boundaries for Agents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77" name="CustomShape 14"/>
          <p:cNvSpPr/>
          <p:nvPr/>
        </p:nvSpPr>
        <p:spPr>
          <a:xfrm>
            <a:off x="6675120" y="5029200"/>
            <a:ext cx="4753440" cy="333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Focused context per feature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CustomShape 1"/>
          <p:cNvSpPr/>
          <p:nvPr/>
        </p:nvSpPr>
        <p:spPr>
          <a:xfrm>
            <a:off x="2858040" y="457200"/>
            <a:ext cx="6474240" cy="699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afafa"/>
                </a:solidFill>
                <a:latin typeface="Inter"/>
                <a:ea typeface="DejaVu Sans"/>
              </a:rPr>
              <a:t>Why VSA is AI-Friendly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579" name="CustomShape 2"/>
          <p:cNvSpPr/>
          <p:nvPr/>
        </p:nvSpPr>
        <p:spPr>
          <a:xfrm>
            <a:off x="868680" y="196596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80" name="CustomShape 3"/>
          <p:cNvSpPr/>
          <p:nvPr/>
        </p:nvSpPr>
        <p:spPr>
          <a:xfrm>
            <a:off x="731520" y="182880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81" name="CustomShape 4"/>
          <p:cNvSpPr/>
          <p:nvPr/>
        </p:nvSpPr>
        <p:spPr>
          <a:xfrm>
            <a:off x="1005840" y="2103120"/>
            <a:ext cx="730080" cy="108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82" name="CustomShape 5"/>
          <p:cNvSpPr/>
          <p:nvPr/>
        </p:nvSpPr>
        <p:spPr>
          <a:xfrm>
            <a:off x="1100880" y="2377440"/>
            <a:ext cx="72252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3b82f6"/>
                </a:solidFill>
                <a:latin typeface="Inter"/>
                <a:ea typeface="DejaVu Sans"/>
              </a:rPr>
              <a:t>01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583" name="CustomShape 6"/>
          <p:cNvSpPr/>
          <p:nvPr/>
        </p:nvSpPr>
        <p:spPr>
          <a:xfrm>
            <a:off x="1005840" y="3200400"/>
            <a:ext cx="329040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Isolation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584" name="CustomShape 7"/>
          <p:cNvSpPr/>
          <p:nvPr/>
        </p:nvSpPr>
        <p:spPr>
          <a:xfrm>
            <a:off x="960840" y="4206240"/>
            <a:ext cx="3290400" cy="576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Each feature is self-contained with clear boundaries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85" name="CustomShape 8"/>
          <p:cNvSpPr/>
          <p:nvPr/>
        </p:nvSpPr>
        <p:spPr>
          <a:xfrm>
            <a:off x="4251960" y="233172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86" name="CustomShape 9"/>
          <p:cNvSpPr/>
          <p:nvPr/>
        </p:nvSpPr>
        <p:spPr>
          <a:xfrm>
            <a:off x="4114800" y="219456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87" name="CustomShape 10"/>
          <p:cNvSpPr/>
          <p:nvPr/>
        </p:nvSpPr>
        <p:spPr>
          <a:xfrm>
            <a:off x="4389120" y="2468880"/>
            <a:ext cx="730080" cy="10836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88" name="CustomShape 11"/>
          <p:cNvSpPr/>
          <p:nvPr/>
        </p:nvSpPr>
        <p:spPr>
          <a:xfrm>
            <a:off x="4484160" y="2743200"/>
            <a:ext cx="72252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60a5fa"/>
                </a:solidFill>
                <a:latin typeface="Inter"/>
                <a:ea typeface="DejaVu Sans"/>
              </a:rPr>
              <a:t>02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589" name="CustomShape 12"/>
          <p:cNvSpPr/>
          <p:nvPr/>
        </p:nvSpPr>
        <p:spPr>
          <a:xfrm>
            <a:off x="4389120" y="3566160"/>
            <a:ext cx="329040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Context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590" name="CustomShape 13"/>
          <p:cNvSpPr/>
          <p:nvPr/>
        </p:nvSpPr>
        <p:spPr>
          <a:xfrm>
            <a:off x="4389120" y="4572000"/>
            <a:ext cx="3290400" cy="576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All relevant files in one place for the agent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91" name="CustomShape 14"/>
          <p:cNvSpPr/>
          <p:nvPr/>
        </p:nvSpPr>
        <p:spPr>
          <a:xfrm>
            <a:off x="7635240" y="178308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92" name="CustomShape 15"/>
          <p:cNvSpPr/>
          <p:nvPr/>
        </p:nvSpPr>
        <p:spPr>
          <a:xfrm>
            <a:off x="7498080" y="164592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93" name="CustomShape 16"/>
          <p:cNvSpPr/>
          <p:nvPr/>
        </p:nvSpPr>
        <p:spPr>
          <a:xfrm>
            <a:off x="7772400" y="1920240"/>
            <a:ext cx="730080" cy="10836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94" name="CustomShape 17"/>
          <p:cNvSpPr/>
          <p:nvPr/>
        </p:nvSpPr>
        <p:spPr>
          <a:xfrm>
            <a:off x="7867440" y="2194560"/>
            <a:ext cx="72252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4ade80"/>
                </a:solidFill>
                <a:latin typeface="Inter"/>
                <a:ea typeface="DejaVu Sans"/>
              </a:rPr>
              <a:t>03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595" name="CustomShape 18"/>
          <p:cNvSpPr/>
          <p:nvPr/>
        </p:nvSpPr>
        <p:spPr>
          <a:xfrm>
            <a:off x="7772400" y="3017520"/>
            <a:ext cx="329040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Autonomy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596" name="CustomShape 19"/>
          <p:cNvSpPr/>
          <p:nvPr/>
        </p:nvSpPr>
        <p:spPr>
          <a:xfrm>
            <a:off x="7772400" y="4023360"/>
            <a:ext cx="3290400" cy="576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Work on slices independently without conflicts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CustomShape 1"/>
          <p:cNvSpPr/>
          <p:nvPr/>
        </p:nvSpPr>
        <p:spPr>
          <a:xfrm>
            <a:off x="0" y="0"/>
            <a:ext cx="4113360" cy="6856560"/>
          </a:xfrm>
          <a:prstGeom prst="rect">
            <a:avLst/>
          </a:prstGeom>
          <a:solidFill>
            <a:srgbClr val="080a13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98" name="CustomShape 2"/>
          <p:cNvSpPr/>
          <p:nvPr/>
        </p:nvSpPr>
        <p:spPr>
          <a:xfrm>
            <a:off x="709200" y="2560320"/>
            <a:ext cx="2694600" cy="1004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6000" spc="-1" strike="noStrike">
                <a:solidFill>
                  <a:srgbClr val="3b82f6"/>
                </a:solidFill>
                <a:latin typeface="Consolas"/>
                <a:ea typeface="DejaVu Sans"/>
              </a:rPr>
              <a:t>/prime</a:t>
            </a:r>
            <a:endParaRPr b="0" lang="en-US" sz="6000" spc="-1" strike="noStrike">
              <a:latin typeface="Arial"/>
            </a:endParaRPr>
          </a:p>
        </p:txBody>
      </p:sp>
      <p:sp>
        <p:nvSpPr>
          <p:cNvPr id="599" name="CustomShape 3"/>
          <p:cNvSpPr/>
          <p:nvPr/>
        </p:nvSpPr>
        <p:spPr>
          <a:xfrm>
            <a:off x="4114800" y="1371600"/>
            <a:ext cx="71640" cy="4113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00" name="CustomShape 4"/>
          <p:cNvSpPr/>
          <p:nvPr/>
        </p:nvSpPr>
        <p:spPr>
          <a:xfrm>
            <a:off x="4754880" y="2194560"/>
            <a:ext cx="6856560" cy="759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4400" spc="-1" strike="noStrike">
                <a:solidFill>
                  <a:srgbClr val="fafafa"/>
                </a:solidFill>
                <a:latin typeface="Inter"/>
                <a:ea typeface="DejaVu Sans"/>
              </a:rPr>
              <a:t>Focused Priming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601" name="CustomShape 5"/>
          <p:cNvSpPr/>
          <p:nvPr/>
        </p:nvSpPr>
        <p:spPr>
          <a:xfrm>
            <a:off x="4754880" y="3657600"/>
            <a:ext cx="685656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000" spc="-1" strike="noStrike">
                <a:solidFill>
                  <a:srgbClr val="cccccc"/>
                </a:solidFill>
                <a:latin typeface="Inter"/>
                <a:ea typeface="DejaVu Sans"/>
              </a:rPr>
              <a:t>Guiding the agent to specific parts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CustomShape 1"/>
          <p:cNvSpPr/>
          <p:nvPr/>
        </p:nvSpPr>
        <p:spPr>
          <a:xfrm>
            <a:off x="2742120" y="365760"/>
            <a:ext cx="670572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Multiple Prime Commands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603" name="CustomShape 2"/>
          <p:cNvSpPr/>
          <p:nvPr/>
        </p:nvSpPr>
        <p:spPr>
          <a:xfrm>
            <a:off x="457200" y="1234440"/>
            <a:ext cx="2284560" cy="5328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04" name="CustomShape 3"/>
          <p:cNvSpPr/>
          <p:nvPr/>
        </p:nvSpPr>
        <p:spPr>
          <a:xfrm>
            <a:off x="457200" y="1645920"/>
            <a:ext cx="2612160" cy="438768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05" name="CustomShape 4"/>
          <p:cNvSpPr/>
          <p:nvPr/>
        </p:nvSpPr>
        <p:spPr>
          <a:xfrm>
            <a:off x="457200" y="1645920"/>
            <a:ext cx="2612160" cy="9000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06" name="CustomShape 5"/>
          <p:cNvSpPr/>
          <p:nvPr/>
        </p:nvSpPr>
        <p:spPr>
          <a:xfrm>
            <a:off x="640080" y="2103120"/>
            <a:ext cx="224640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3b82f6"/>
                </a:solidFill>
                <a:latin typeface="Consolas"/>
                <a:ea typeface="DejaVu Sans"/>
              </a:rPr>
              <a:t>/prime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07" name="CustomShape 6"/>
          <p:cNvSpPr/>
          <p:nvPr/>
        </p:nvSpPr>
        <p:spPr>
          <a:xfrm>
            <a:off x="640080" y="3108960"/>
            <a:ext cx="2246400" cy="11552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cccccc"/>
                </a:solidFill>
                <a:latin typeface="Inter"/>
                <a:ea typeface="DejaVu Sans"/>
              </a:rPr>
              <a:t>Full codebase understanding - core architecture (doesn’t work great for larger codebases)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08" name="CustomShape 7"/>
          <p:cNvSpPr/>
          <p:nvPr/>
        </p:nvSpPr>
        <p:spPr>
          <a:xfrm>
            <a:off x="3345120" y="1645920"/>
            <a:ext cx="2612160" cy="438768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09" name="CustomShape 8"/>
          <p:cNvSpPr/>
          <p:nvPr/>
        </p:nvSpPr>
        <p:spPr>
          <a:xfrm>
            <a:off x="3345120" y="1645920"/>
            <a:ext cx="2612160" cy="9000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10" name="CustomShape 9"/>
          <p:cNvSpPr/>
          <p:nvPr/>
        </p:nvSpPr>
        <p:spPr>
          <a:xfrm>
            <a:off x="3528000" y="2103120"/>
            <a:ext cx="224640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60a5fa"/>
                </a:solidFill>
                <a:latin typeface="Consolas"/>
                <a:ea typeface="DejaVu Sans"/>
              </a:rPr>
              <a:t>/prime-frontend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11" name="CustomShape 10"/>
          <p:cNvSpPr/>
          <p:nvPr/>
        </p:nvSpPr>
        <p:spPr>
          <a:xfrm>
            <a:off x="3528000" y="3108960"/>
            <a:ext cx="2246400" cy="515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cccccc"/>
                </a:solidFill>
                <a:latin typeface="Inter"/>
                <a:ea typeface="DejaVu Sans"/>
              </a:rPr>
              <a:t>Frontend components and styling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12" name="CustomShape 11"/>
          <p:cNvSpPr/>
          <p:nvPr/>
        </p:nvSpPr>
        <p:spPr>
          <a:xfrm>
            <a:off x="6233040" y="1645920"/>
            <a:ext cx="2612160" cy="438768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13" name="CustomShape 12"/>
          <p:cNvSpPr/>
          <p:nvPr/>
        </p:nvSpPr>
        <p:spPr>
          <a:xfrm>
            <a:off x="6233040" y="1645920"/>
            <a:ext cx="2612160" cy="9000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14" name="CustomShape 13"/>
          <p:cNvSpPr/>
          <p:nvPr/>
        </p:nvSpPr>
        <p:spPr>
          <a:xfrm>
            <a:off x="6415920" y="2103120"/>
            <a:ext cx="224640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0ea5e9"/>
                </a:solidFill>
                <a:latin typeface="Consolas"/>
                <a:ea typeface="DejaVu Sans"/>
              </a:rPr>
              <a:t>/prime-backend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15" name="CustomShape 14"/>
          <p:cNvSpPr/>
          <p:nvPr/>
        </p:nvSpPr>
        <p:spPr>
          <a:xfrm>
            <a:off x="6415920" y="3108960"/>
            <a:ext cx="2246400" cy="515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cccccc"/>
                </a:solidFill>
                <a:latin typeface="Inter"/>
                <a:ea typeface="DejaVu Sans"/>
              </a:rPr>
              <a:t>API routes and backend logic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16" name="CustomShape 15"/>
          <p:cNvSpPr/>
          <p:nvPr/>
        </p:nvSpPr>
        <p:spPr>
          <a:xfrm>
            <a:off x="9120960" y="1645920"/>
            <a:ext cx="2612160" cy="438768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17" name="CustomShape 16"/>
          <p:cNvSpPr/>
          <p:nvPr/>
        </p:nvSpPr>
        <p:spPr>
          <a:xfrm>
            <a:off x="9120960" y="1645920"/>
            <a:ext cx="2612160" cy="9000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18" name="CustomShape 17"/>
          <p:cNvSpPr/>
          <p:nvPr/>
        </p:nvSpPr>
        <p:spPr>
          <a:xfrm>
            <a:off x="9303840" y="2103120"/>
            <a:ext cx="224640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4ade80"/>
                </a:solidFill>
                <a:latin typeface="Consolas"/>
                <a:ea typeface="DejaVu Sans"/>
              </a:rPr>
              <a:t>/prime-db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19" name="CustomShape 18"/>
          <p:cNvSpPr/>
          <p:nvPr/>
        </p:nvSpPr>
        <p:spPr>
          <a:xfrm>
            <a:off x="9303840" y="3108960"/>
            <a:ext cx="2246400" cy="515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cccccc"/>
                </a:solidFill>
                <a:latin typeface="Inter"/>
                <a:ea typeface="DejaVu Sans"/>
              </a:rPr>
              <a:t>Database schema and queries</a:t>
            </a:r>
            <a:endParaRPr b="0" lang="en-US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CustomShape 1"/>
          <p:cNvSpPr/>
          <p:nvPr/>
        </p:nvSpPr>
        <p:spPr>
          <a:xfrm>
            <a:off x="1641600" y="365760"/>
            <a:ext cx="890748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Subagent Orchestration Strategies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621" name="CustomShape 2"/>
          <p:cNvSpPr/>
          <p:nvPr/>
        </p:nvSpPr>
        <p:spPr>
          <a:xfrm>
            <a:off x="457200" y="1234440"/>
            <a:ext cx="2284560" cy="5328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22" name="CustomShape 3"/>
          <p:cNvSpPr/>
          <p:nvPr/>
        </p:nvSpPr>
        <p:spPr>
          <a:xfrm>
            <a:off x="457200" y="1645920"/>
            <a:ext cx="5302080" cy="475344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23" name="CustomShape 4"/>
          <p:cNvSpPr/>
          <p:nvPr/>
        </p:nvSpPr>
        <p:spPr>
          <a:xfrm>
            <a:off x="1773000" y="1920240"/>
            <a:ext cx="267012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4ade80"/>
                </a:solidFill>
                <a:latin typeface="Inter"/>
                <a:ea typeface="DejaVu Sans"/>
              </a:rPr>
              <a:t>Best for Research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624" name="CustomShape 5"/>
          <p:cNvSpPr/>
          <p:nvPr/>
        </p:nvSpPr>
        <p:spPr>
          <a:xfrm>
            <a:off x="731520" y="2560320"/>
            <a:ext cx="4753440" cy="317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500" spc="-1" strike="noStrike">
                <a:solidFill>
                  <a:srgbClr val="cccccc"/>
                </a:solidFill>
                <a:latin typeface="Inter"/>
                <a:ea typeface="DejaVu Sans"/>
              </a:rPr>
              <a:t>Research can consume many tokens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625" name="CustomShape 6"/>
          <p:cNvSpPr/>
          <p:nvPr/>
        </p:nvSpPr>
        <p:spPr>
          <a:xfrm>
            <a:off x="731520" y="3246120"/>
            <a:ext cx="4753440" cy="317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500" spc="-1" strike="noStrike">
                <a:solidFill>
                  <a:srgbClr val="cccccc"/>
                </a:solidFill>
                <a:latin typeface="Inter"/>
                <a:ea typeface="DejaVu Sans"/>
              </a:rPr>
              <a:t>Summary is all you need back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626" name="CustomShape 7"/>
          <p:cNvSpPr/>
          <p:nvPr/>
        </p:nvSpPr>
        <p:spPr>
          <a:xfrm>
            <a:off x="731520" y="3931920"/>
            <a:ext cx="4753440" cy="317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500" spc="-1" strike="noStrike">
                <a:solidFill>
                  <a:srgbClr val="cccccc"/>
                </a:solidFill>
                <a:latin typeface="Inter"/>
                <a:ea typeface="DejaVu Sans"/>
              </a:rPr>
              <a:t>Context isolation prevents pollution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627" name="CustomShape 8"/>
          <p:cNvSpPr/>
          <p:nvPr/>
        </p:nvSpPr>
        <p:spPr>
          <a:xfrm>
            <a:off x="731520" y="4617720"/>
            <a:ext cx="4753440" cy="317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500" spc="-1" strike="noStrike">
                <a:solidFill>
                  <a:srgbClr val="cccccc"/>
                </a:solidFill>
                <a:latin typeface="Inter"/>
                <a:ea typeface="DejaVu Sans"/>
              </a:rPr>
              <a:t>Parallel research is safe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628" name="CustomShape 9"/>
          <p:cNvSpPr/>
          <p:nvPr/>
        </p:nvSpPr>
        <p:spPr>
          <a:xfrm>
            <a:off x="731520" y="5303520"/>
            <a:ext cx="4753440" cy="317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500" spc="-1" strike="noStrike">
                <a:solidFill>
                  <a:srgbClr val="cccccc"/>
                </a:solidFill>
                <a:latin typeface="Inter"/>
                <a:ea typeface="DejaVu Sans"/>
              </a:rPr>
              <a:t>Delegate to specialist subagents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629" name="CustomShape 10"/>
          <p:cNvSpPr/>
          <p:nvPr/>
        </p:nvSpPr>
        <p:spPr>
          <a:xfrm>
            <a:off x="6400800" y="1645920"/>
            <a:ext cx="5302080" cy="475344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30" name="CustomShape 11"/>
          <p:cNvSpPr/>
          <p:nvPr/>
        </p:nvSpPr>
        <p:spPr>
          <a:xfrm>
            <a:off x="7058880" y="1920240"/>
            <a:ext cx="398556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87171"/>
                </a:solidFill>
                <a:latin typeface="Inter"/>
                <a:ea typeface="DejaVu Sans"/>
              </a:rPr>
              <a:t>Caution for Implementation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631" name="CustomShape 12"/>
          <p:cNvSpPr/>
          <p:nvPr/>
        </p:nvSpPr>
        <p:spPr>
          <a:xfrm>
            <a:off x="6675120" y="2560320"/>
            <a:ext cx="4753440" cy="317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500" spc="-1" strike="noStrike">
                <a:solidFill>
                  <a:srgbClr val="cccccc"/>
                </a:solidFill>
                <a:latin typeface="Inter"/>
                <a:ea typeface="DejaVu Sans"/>
              </a:rPr>
              <a:t>Implementation is high-risk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632" name="CustomShape 13"/>
          <p:cNvSpPr/>
          <p:nvPr/>
        </p:nvSpPr>
        <p:spPr>
          <a:xfrm>
            <a:off x="6675120" y="3246120"/>
            <a:ext cx="4753440" cy="317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500" spc="-1" strike="noStrike">
                <a:solidFill>
                  <a:srgbClr val="cccccc"/>
                </a:solidFill>
                <a:latin typeface="Inter"/>
                <a:ea typeface="DejaVu Sans"/>
              </a:rPr>
              <a:t>Collision opportunities increase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633" name="CustomShape 14"/>
          <p:cNvSpPr/>
          <p:nvPr/>
        </p:nvSpPr>
        <p:spPr>
          <a:xfrm>
            <a:off x="6675120" y="3931920"/>
            <a:ext cx="4753440" cy="317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500" spc="-1" strike="noStrike">
                <a:solidFill>
                  <a:srgbClr val="cccccc"/>
                </a:solidFill>
                <a:latin typeface="Inter"/>
                <a:ea typeface="DejaVu Sans"/>
              </a:rPr>
              <a:t>Main agent needs full file context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634" name="CustomShape 15"/>
          <p:cNvSpPr/>
          <p:nvPr/>
        </p:nvSpPr>
        <p:spPr>
          <a:xfrm>
            <a:off x="6675120" y="4617720"/>
            <a:ext cx="4753440" cy="317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500" spc="-1" strike="noStrike">
                <a:solidFill>
                  <a:srgbClr val="cccccc"/>
                </a:solidFill>
                <a:latin typeface="Inter"/>
                <a:ea typeface="DejaVu Sans"/>
              </a:rPr>
              <a:t>Tests require understanding impact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635" name="CustomShape 16"/>
          <p:cNvSpPr/>
          <p:nvPr/>
        </p:nvSpPr>
        <p:spPr>
          <a:xfrm>
            <a:off x="6675120" y="5303520"/>
            <a:ext cx="4753440" cy="317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500" spc="-1" strike="noStrike">
                <a:solidFill>
                  <a:srgbClr val="cccccc"/>
                </a:solidFill>
                <a:latin typeface="Inter"/>
                <a:ea typeface="DejaVu Sans"/>
              </a:rPr>
              <a:t>Keep implementation in main agent</a:t>
            </a:r>
            <a:endParaRPr b="0" lang="en-US" sz="15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CustomShape 1"/>
          <p:cNvSpPr/>
          <p:nvPr/>
        </p:nvSpPr>
        <p:spPr>
          <a:xfrm>
            <a:off x="0" y="0"/>
            <a:ext cx="71640" cy="6856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37" name="CustomShape 2"/>
          <p:cNvSpPr/>
          <p:nvPr/>
        </p:nvSpPr>
        <p:spPr>
          <a:xfrm>
            <a:off x="2299680" y="457200"/>
            <a:ext cx="746928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Component Sizing Guidelines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638" name="CustomShape 3"/>
          <p:cNvSpPr/>
          <p:nvPr/>
        </p:nvSpPr>
        <p:spPr>
          <a:xfrm>
            <a:off x="548640" y="1371600"/>
            <a:ext cx="2284560" cy="53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39" name="CustomShape 4"/>
          <p:cNvSpPr/>
          <p:nvPr/>
        </p:nvSpPr>
        <p:spPr>
          <a:xfrm>
            <a:off x="548640" y="1965960"/>
            <a:ext cx="108360" cy="108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40" name="CustomShape 5"/>
          <p:cNvSpPr/>
          <p:nvPr/>
        </p:nvSpPr>
        <p:spPr>
          <a:xfrm>
            <a:off x="914400" y="1828800"/>
            <a:ext cx="1051416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It's about coupling, not lines of code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641" name="CustomShape 6"/>
          <p:cNvSpPr/>
          <p:nvPr/>
        </p:nvSpPr>
        <p:spPr>
          <a:xfrm>
            <a:off x="548640" y="3063240"/>
            <a:ext cx="108360" cy="108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42" name="CustomShape 7"/>
          <p:cNvSpPr/>
          <p:nvPr/>
        </p:nvSpPr>
        <p:spPr>
          <a:xfrm>
            <a:off x="914400" y="2926080"/>
            <a:ext cx="1051416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Can you work on it in isolation?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643" name="CustomShape 8"/>
          <p:cNvSpPr/>
          <p:nvPr/>
        </p:nvSpPr>
        <p:spPr>
          <a:xfrm>
            <a:off x="548640" y="4160520"/>
            <a:ext cx="108360" cy="108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44" name="CustomShape 9"/>
          <p:cNvSpPr/>
          <p:nvPr/>
        </p:nvSpPr>
        <p:spPr>
          <a:xfrm>
            <a:off x="914400" y="4023360"/>
            <a:ext cx="1051416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Does the agent have clear boundaries?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645" name="CustomShape 10"/>
          <p:cNvSpPr/>
          <p:nvPr/>
        </p:nvSpPr>
        <p:spPr>
          <a:xfrm>
            <a:off x="548640" y="5257800"/>
            <a:ext cx="108360" cy="108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46" name="CustomShape 11"/>
          <p:cNvSpPr/>
          <p:nvPr/>
        </p:nvSpPr>
        <p:spPr>
          <a:xfrm>
            <a:off x="914400" y="5120640"/>
            <a:ext cx="1051416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Smaller, focused components = better AI results</a:t>
            </a:r>
            <a:endParaRPr b="0" lang="en-US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CustomShape 1"/>
          <p:cNvSpPr/>
          <p:nvPr/>
        </p:nvSpPr>
        <p:spPr>
          <a:xfrm>
            <a:off x="3839400" y="457200"/>
            <a:ext cx="4511160" cy="699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afafa"/>
                </a:solidFill>
                <a:latin typeface="Inter"/>
                <a:ea typeface="DejaVu Sans"/>
              </a:rPr>
              <a:t>Key Takeaways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648" name="CustomShape 2"/>
          <p:cNvSpPr/>
          <p:nvPr/>
        </p:nvSpPr>
        <p:spPr>
          <a:xfrm>
            <a:off x="868680" y="196596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49" name="CustomShape 3"/>
          <p:cNvSpPr/>
          <p:nvPr/>
        </p:nvSpPr>
        <p:spPr>
          <a:xfrm>
            <a:off x="731520" y="182880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50" name="CustomShape 4"/>
          <p:cNvSpPr/>
          <p:nvPr/>
        </p:nvSpPr>
        <p:spPr>
          <a:xfrm>
            <a:off x="1005840" y="2103120"/>
            <a:ext cx="730080" cy="108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51" name="CustomShape 5"/>
          <p:cNvSpPr/>
          <p:nvPr/>
        </p:nvSpPr>
        <p:spPr>
          <a:xfrm>
            <a:off x="1100880" y="2377440"/>
            <a:ext cx="72252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3b82f6"/>
                </a:solidFill>
                <a:latin typeface="Inter"/>
                <a:ea typeface="DejaVu Sans"/>
              </a:rPr>
              <a:t>01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652" name="CustomShape 6"/>
          <p:cNvSpPr/>
          <p:nvPr/>
        </p:nvSpPr>
        <p:spPr>
          <a:xfrm>
            <a:off x="1005840" y="3200400"/>
            <a:ext cx="329040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Build Your AI Layer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653" name="CustomShape 7"/>
          <p:cNvSpPr/>
          <p:nvPr/>
        </p:nvSpPr>
        <p:spPr>
          <a:xfrm>
            <a:off x="1005840" y="4206240"/>
            <a:ext cx="3290400" cy="819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Rules, on-demand context, commands, and skills compound over time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654" name="CustomShape 8"/>
          <p:cNvSpPr/>
          <p:nvPr/>
        </p:nvSpPr>
        <p:spPr>
          <a:xfrm>
            <a:off x="4251960" y="233172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55" name="CustomShape 9"/>
          <p:cNvSpPr/>
          <p:nvPr/>
        </p:nvSpPr>
        <p:spPr>
          <a:xfrm>
            <a:off x="4114800" y="219456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161b22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56" name="CustomShape 10"/>
          <p:cNvSpPr/>
          <p:nvPr/>
        </p:nvSpPr>
        <p:spPr>
          <a:xfrm>
            <a:off x="4389120" y="2468880"/>
            <a:ext cx="730080" cy="10836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57" name="CustomShape 11"/>
          <p:cNvSpPr/>
          <p:nvPr/>
        </p:nvSpPr>
        <p:spPr>
          <a:xfrm>
            <a:off x="4484160" y="2743200"/>
            <a:ext cx="72252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60a5fa"/>
                </a:solidFill>
                <a:latin typeface="Inter"/>
                <a:ea typeface="DejaVu Sans"/>
              </a:rPr>
              <a:t>02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658" name="CustomShape 12"/>
          <p:cNvSpPr/>
          <p:nvPr/>
        </p:nvSpPr>
        <p:spPr>
          <a:xfrm>
            <a:off x="4389120" y="3566160"/>
            <a:ext cx="329040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PRD Then PIV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659" name="CustomShape 13"/>
          <p:cNvSpPr/>
          <p:nvPr/>
        </p:nvSpPr>
        <p:spPr>
          <a:xfrm>
            <a:off x="4389120" y="4572000"/>
            <a:ext cx="3290400" cy="819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Scope the work first, then iterate with Plan-Implement-Validate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660" name="CustomShape 14"/>
          <p:cNvSpPr/>
          <p:nvPr/>
        </p:nvSpPr>
        <p:spPr>
          <a:xfrm>
            <a:off x="7635240" y="178308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11111b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61" name="CustomShape 15"/>
          <p:cNvSpPr/>
          <p:nvPr/>
        </p:nvSpPr>
        <p:spPr>
          <a:xfrm>
            <a:off x="7498080" y="1645920"/>
            <a:ext cx="3839040" cy="3656160"/>
          </a:xfrm>
          <a:prstGeom prst="roundRect">
            <a:avLst>
              <a:gd name="adj" fmla="val 16667"/>
            </a:avLst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62" name="CustomShape 16"/>
          <p:cNvSpPr/>
          <p:nvPr/>
        </p:nvSpPr>
        <p:spPr>
          <a:xfrm>
            <a:off x="7772400" y="1920240"/>
            <a:ext cx="730080" cy="108360"/>
          </a:xfrm>
          <a:prstGeom prst="rect">
            <a:avLst/>
          </a:prstGeom>
          <a:solidFill>
            <a:srgbClr val="4ade80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63" name="CustomShape 17"/>
          <p:cNvSpPr/>
          <p:nvPr/>
        </p:nvSpPr>
        <p:spPr>
          <a:xfrm>
            <a:off x="7867440" y="2194560"/>
            <a:ext cx="722520" cy="57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4ade80"/>
                </a:solidFill>
                <a:latin typeface="Inter"/>
                <a:ea typeface="DejaVu Sans"/>
              </a:rPr>
              <a:t>03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664" name="CustomShape 18"/>
          <p:cNvSpPr/>
          <p:nvPr/>
        </p:nvSpPr>
        <p:spPr>
          <a:xfrm>
            <a:off x="7772400" y="3017520"/>
            <a:ext cx="329040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Evolve the System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665" name="CustomShape 19"/>
          <p:cNvSpPr/>
          <p:nvPr/>
        </p:nvSpPr>
        <p:spPr>
          <a:xfrm>
            <a:off x="7772400" y="4023360"/>
            <a:ext cx="3290400" cy="576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cccccc"/>
                </a:solidFill>
                <a:latin typeface="Inter"/>
                <a:ea typeface="DejaVu Sans"/>
              </a:rPr>
              <a:t>Every bug is an opportunity to improve your AI layer</a:t>
            </a:r>
            <a:endParaRPr b="0" lang="en-US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CustomShape 1"/>
          <p:cNvSpPr/>
          <p:nvPr/>
        </p:nvSpPr>
        <p:spPr>
          <a:xfrm>
            <a:off x="0" y="0"/>
            <a:ext cx="71640" cy="685728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67" name="CustomShape 2"/>
          <p:cNvSpPr/>
          <p:nvPr/>
        </p:nvSpPr>
        <p:spPr>
          <a:xfrm>
            <a:off x="1517760" y="457200"/>
            <a:ext cx="9033480" cy="63936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Exercise 4: Build on an AI-Optimized Codebase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668" name="CustomShape 3"/>
          <p:cNvSpPr/>
          <p:nvPr/>
        </p:nvSpPr>
        <p:spPr>
          <a:xfrm>
            <a:off x="548640" y="1371600"/>
            <a:ext cx="2285280" cy="5400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69" name="CustomShape 4"/>
          <p:cNvSpPr/>
          <p:nvPr/>
        </p:nvSpPr>
        <p:spPr>
          <a:xfrm>
            <a:off x="548640" y="1828800"/>
            <a:ext cx="10972080" cy="39240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fafafa"/>
                </a:solidFill>
                <a:latin typeface="Inter"/>
                <a:ea typeface="DejaVu Sans"/>
              </a:rPr>
              <a:t>Clone the AI-optimized starter and build something: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670" name="CustomShape 5"/>
          <p:cNvSpPr/>
          <p:nvPr/>
        </p:nvSpPr>
        <p:spPr>
          <a:xfrm>
            <a:off x="548640" y="2560320"/>
            <a:ext cx="10972080" cy="36504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60a5fa"/>
                </a:solidFill>
                <a:latin typeface="Consolas"/>
                <a:ea typeface="DejaVu Sans"/>
              </a:rPr>
              <a:t>git clone https://github.com/dynamous-business/ai-optimized-starter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71" name="CustomShape 6"/>
          <p:cNvSpPr/>
          <p:nvPr/>
        </p:nvSpPr>
        <p:spPr>
          <a:xfrm>
            <a:off x="548640" y="3108960"/>
            <a:ext cx="10972080" cy="36504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60a5fa"/>
                </a:solidFill>
                <a:latin typeface="Consolas"/>
                <a:ea typeface="DejaVu Sans"/>
              </a:rPr>
              <a:t>cd ai-optimized-starter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72" name="CustomShape 7"/>
          <p:cNvSpPr/>
          <p:nvPr/>
        </p:nvSpPr>
        <p:spPr>
          <a:xfrm>
            <a:off x="549000" y="3749040"/>
            <a:ext cx="10972080" cy="36504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Create a PRD for an application you want to build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73" name="CustomShape 8"/>
          <p:cNvSpPr/>
          <p:nvPr/>
        </p:nvSpPr>
        <p:spPr>
          <a:xfrm>
            <a:off x="549000" y="4206240"/>
            <a:ext cx="10972080" cy="36504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Set up your global rules (AGENTS.md)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74" name="CustomShape 9"/>
          <p:cNvSpPr/>
          <p:nvPr/>
        </p:nvSpPr>
        <p:spPr>
          <a:xfrm>
            <a:off x="549000" y="4663440"/>
            <a:ext cx="10972080" cy="36504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Use the full PIV loop process we covered (iterate multiple times)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75" name="CustomShape 10"/>
          <p:cNvSpPr/>
          <p:nvPr/>
        </p:nvSpPr>
        <p:spPr>
          <a:xfrm>
            <a:off x="549000" y="5120640"/>
            <a:ext cx="10972080" cy="36504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• </a:t>
            </a: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See what it’s like to build on a foundation designed for AI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76" name="CustomShape 11"/>
          <p:cNvSpPr/>
          <p:nvPr/>
        </p:nvSpPr>
        <p:spPr>
          <a:xfrm>
            <a:off x="548640" y="5669280"/>
            <a:ext cx="10972080" cy="913680"/>
          </a:xfrm>
          <a:prstGeom prst="rect">
            <a:avLst/>
          </a:prstGeom>
          <a:solidFill>
            <a:srgbClr val="0d1117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77" name="CustomShape 12"/>
          <p:cNvSpPr/>
          <p:nvPr/>
        </p:nvSpPr>
        <p:spPr>
          <a:xfrm>
            <a:off x="823320" y="5943600"/>
            <a:ext cx="10423440" cy="365040"/>
          </a:xfrm>
          <a:prstGeom prst="rect">
            <a:avLst/>
          </a:prstGeom>
          <a:noFill/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cccccc"/>
                </a:solidFill>
                <a:latin typeface="Inter"/>
                <a:ea typeface="DejaVu Sans"/>
              </a:rPr>
              <a:t>Goal: Build any feature using PRD → Rules → PIV Loops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CustomShape 1"/>
          <p:cNvSpPr/>
          <p:nvPr/>
        </p:nvSpPr>
        <p:spPr>
          <a:xfrm>
            <a:off x="0" y="0"/>
            <a:ext cx="71640" cy="68565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79" name="CustomShape 2"/>
          <p:cNvSpPr/>
          <p:nvPr/>
        </p:nvSpPr>
        <p:spPr>
          <a:xfrm>
            <a:off x="3098880" y="457200"/>
            <a:ext cx="587484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afafa"/>
                </a:solidFill>
                <a:latin typeface="Inter"/>
                <a:ea typeface="DejaVu Sans"/>
              </a:rPr>
              <a:t>Beyond This Workshop</a:t>
            </a:r>
            <a:endParaRPr b="0" lang="en-US" sz="3600" spc="-1" strike="noStrike">
              <a:latin typeface="Arial"/>
            </a:endParaRPr>
          </a:p>
        </p:txBody>
      </p:sp>
      <p:sp>
        <p:nvSpPr>
          <p:cNvPr id="680" name="CustomShape 3"/>
          <p:cNvSpPr/>
          <p:nvPr/>
        </p:nvSpPr>
        <p:spPr>
          <a:xfrm>
            <a:off x="548640" y="1371600"/>
            <a:ext cx="2284560" cy="53280"/>
          </a:xfrm>
          <a:prstGeom prst="rect">
            <a:avLst/>
          </a:prstGeom>
          <a:solidFill>
            <a:srgbClr val="60a5fa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81" name="CustomShape 4"/>
          <p:cNvSpPr/>
          <p:nvPr/>
        </p:nvSpPr>
        <p:spPr>
          <a:xfrm>
            <a:off x="548640" y="1965960"/>
            <a:ext cx="108360" cy="108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82" name="CustomShape 5"/>
          <p:cNvSpPr/>
          <p:nvPr/>
        </p:nvSpPr>
        <p:spPr>
          <a:xfrm>
            <a:off x="914400" y="1828800"/>
            <a:ext cx="1051416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Practice the PIV loop on your own codebases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683" name="CustomShape 6"/>
          <p:cNvSpPr/>
          <p:nvPr/>
        </p:nvSpPr>
        <p:spPr>
          <a:xfrm>
            <a:off x="548640" y="3063240"/>
            <a:ext cx="108360" cy="108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84" name="CustomShape 7"/>
          <p:cNvSpPr/>
          <p:nvPr/>
        </p:nvSpPr>
        <p:spPr>
          <a:xfrm>
            <a:off x="914400" y="2926080"/>
            <a:ext cx="1051416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Build global rules for your codebase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685" name="CustomShape 8"/>
          <p:cNvSpPr/>
          <p:nvPr/>
        </p:nvSpPr>
        <p:spPr>
          <a:xfrm>
            <a:off x="548640" y="4160520"/>
            <a:ext cx="108360" cy="108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86" name="CustomShape 9"/>
          <p:cNvSpPr/>
          <p:nvPr/>
        </p:nvSpPr>
        <p:spPr>
          <a:xfrm>
            <a:off x="914400" y="4023360"/>
            <a:ext cx="10514160" cy="424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Create commands for repeated workflows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687" name="CustomShape 10"/>
          <p:cNvSpPr/>
          <p:nvPr/>
        </p:nvSpPr>
        <p:spPr>
          <a:xfrm>
            <a:off x="548640" y="5257800"/>
            <a:ext cx="108360" cy="10836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88" name="CustomShape 11"/>
          <p:cNvSpPr/>
          <p:nvPr/>
        </p:nvSpPr>
        <p:spPr>
          <a:xfrm>
            <a:off x="914400" y="5120640"/>
            <a:ext cx="10514160" cy="759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rgbClr val="fafafa"/>
                </a:solidFill>
                <a:latin typeface="Inter"/>
                <a:ea typeface="DejaVu Sans"/>
              </a:rPr>
              <a:t>Leverage skills and on-demand context to guide your agent without overwhelming it</a:t>
            </a:r>
            <a:endParaRPr b="0" lang="en-US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09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CustomShape 1"/>
          <p:cNvSpPr/>
          <p:nvPr/>
        </p:nvSpPr>
        <p:spPr>
          <a:xfrm>
            <a:off x="0" y="0"/>
            <a:ext cx="12190320" cy="135720"/>
          </a:xfrm>
          <a:prstGeom prst="rect">
            <a:avLst/>
          </a:prstGeom>
          <a:solidFill>
            <a:srgbClr val="3b82f6"/>
          </a:solidFill>
          <a:ln>
            <a:noFill/>
          </a:ln>
          <a:effectLst>
            <a:outerShdw blurRad="4000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90" name="CustomShape 2"/>
          <p:cNvSpPr/>
          <p:nvPr/>
        </p:nvSpPr>
        <p:spPr>
          <a:xfrm>
            <a:off x="427680" y="1738800"/>
            <a:ext cx="11275920" cy="943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1" lang="en-US" sz="5600" spc="-1" strike="noStrike">
                <a:solidFill>
                  <a:srgbClr val="fafafa"/>
                </a:solidFill>
                <a:latin typeface="Inter"/>
                <a:ea typeface="DejaVu Sans"/>
              </a:rPr>
              <a:t>Thank You</a:t>
            </a:r>
            <a:endParaRPr b="0" lang="en-US" sz="5600" spc="-1" strike="noStrike">
              <a:latin typeface="Arial"/>
            </a:endParaRPr>
          </a:p>
        </p:txBody>
      </p:sp>
      <p:sp>
        <p:nvSpPr>
          <p:cNvPr id="691" name="CustomShape 3"/>
          <p:cNvSpPr/>
          <p:nvPr/>
        </p:nvSpPr>
        <p:spPr>
          <a:xfrm>
            <a:off x="4235040" y="3293280"/>
            <a:ext cx="366084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2400" spc="-1" strike="noStrike">
                <a:solidFill>
                  <a:srgbClr val="cccccc"/>
                </a:solidFill>
                <a:latin typeface="Inter"/>
                <a:ea typeface="DejaVu Sans"/>
              </a:rPr>
              <a:t>Questions &amp; Discussion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692" name="CustomShape 4"/>
          <p:cNvSpPr/>
          <p:nvPr/>
        </p:nvSpPr>
        <p:spPr>
          <a:xfrm>
            <a:off x="2157480" y="4482000"/>
            <a:ext cx="7821000" cy="363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3b82f6"/>
                </a:solidFill>
                <a:latin typeface="Inter"/>
                <a:ea typeface="DejaVu Sans"/>
              </a:rPr>
              <a:t>cole@dynamous.ai | Dynamous AI Community – https://dynamous.ai</a:t>
            </a:r>
            <a:endParaRPr b="0" lang="en-US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</TotalTime>
  <Application>Neat_Office/6.2.8.2$Windows_x86 LibreOffice_project/</Applicat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2026-02-25T07:04:30Z</dcterms:modified>
  <cp:revision>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14.0000</vt:lpwstr>
  </property>
  <property fmtid="{D5CDD505-2E9C-101B-9397-08002B2CF9AE}" pid="3" name="HiddenSlides">
    <vt:i4>0</vt:i4>
  </property>
  <property fmtid="{D5CDD505-2E9C-101B-9397-08002B2CF9AE}" pid="4" name="HyperlinksChanged">
    <vt:bool>0</vt:bool>
  </property>
  <property fmtid="{D5CDD505-2E9C-101B-9397-08002B2CF9AE}" pid="5" name="LinksUpToDate">
    <vt:bool>0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On-screen Show (4:3)</vt:lpwstr>
  </property>
  <property fmtid="{D5CDD505-2E9C-101B-9397-08002B2CF9AE}" pid="9" name="ScaleCrop">
    <vt:bool>0</vt:bool>
  </property>
  <property fmtid="{D5CDD505-2E9C-101B-9397-08002B2CF9AE}" pid="10" name="ShareDoc">
    <vt:bool>0</vt:bool>
  </property>
  <property fmtid="{D5CDD505-2E9C-101B-9397-08002B2CF9AE}" pid="11" name="Slides">
    <vt:i4>0</vt:i4>
  </property>
</Properties>
</file>